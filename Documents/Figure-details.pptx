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6" r:id="rId3"/>
    <p:sldId id="266" r:id="rId4"/>
    <p:sldId id="260" r:id="rId5"/>
    <p:sldId id="262" r:id="rId6"/>
    <p:sldId id="263" r:id="rId7"/>
    <p:sldId id="264" r:id="rId8"/>
    <p:sldId id="265" r:id="rId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va_kist" initials="n" lastIdx="1" clrIdx="0">
    <p:extLst>
      <p:ext uri="{19B8F6BF-5375-455C-9EA6-DF929625EA0E}">
        <p15:presenceInfo xmlns:p15="http://schemas.microsoft.com/office/powerpoint/2012/main" userId="cff4d2cab99e04f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11" autoAdjust="0"/>
    <p:restoredTop sz="67496" autoAdjust="0"/>
  </p:normalViewPr>
  <p:slideViewPr>
    <p:cSldViewPr snapToGrid="0">
      <p:cViewPr varScale="1">
        <p:scale>
          <a:sx n="109" d="100"/>
          <a:sy n="109" d="100"/>
        </p:scale>
        <p:origin x="2892" y="102"/>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544F26-E841-4D66-8C64-DB49FE61A596}" type="datetimeFigureOut">
              <a:rPr lang="ko-KR" altLang="en-US" smtClean="0"/>
              <a:t>2026-04-13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513DFD-612C-4AD4-B627-4A6AF90DAEBF}" type="slidenum">
              <a:rPr lang="ko-KR" altLang="en-US" smtClean="0"/>
              <a:t>‹#›</a:t>
            </a:fld>
            <a:endParaRPr lang="ko-KR" altLang="en-US"/>
          </a:p>
        </p:txBody>
      </p:sp>
    </p:spTree>
    <p:extLst>
      <p:ext uri="{BB962C8B-B14F-4D97-AF65-F5344CB8AC3E}">
        <p14:creationId xmlns:p14="http://schemas.microsoft.com/office/powerpoint/2010/main" val="204813673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lnSpc>
                <a:spcPct val="114000"/>
              </a:lnSpc>
            </a:pPr>
            <a:r>
              <a:rPr lang="en-US" altLang="ko-KR" sz="1100">
                <a:latin typeface="Microsoft YaHei" panose="020B0503020204020204" pitchFamily="34" charset="-122"/>
              </a:rPr>
              <a:t>&lt;</a:t>
            </a:r>
            <a:r>
              <a:rPr lang="ko-KR" altLang="en-US" sz="1100">
                <a:latin typeface="Microsoft YaHei" panose="020B0503020204020204" pitchFamily="34" charset="-122"/>
              </a:rPr>
              <a:t>수식 논문</a:t>
            </a:r>
            <a:r>
              <a:rPr lang="en-US" altLang="ko-KR" sz="1100">
                <a:latin typeface="Microsoft YaHei" panose="020B0503020204020204" pitchFamily="34" charset="-122"/>
              </a:rPr>
              <a:t>&gt;</a:t>
            </a:r>
          </a:p>
          <a:p>
            <a:pPr marL="0" marR="0" lvl="0" indent="0" algn="l" defTabSz="914400" rtl="0" eaLnBrk="1" fontAlgn="auto" latinLnBrk="1" hangingPunct="1">
              <a:lnSpc>
                <a:spcPct val="114000"/>
              </a:lnSpc>
              <a:spcBef>
                <a:spcPts val="0"/>
              </a:spcBef>
              <a:spcAft>
                <a:spcPts val="0"/>
              </a:spcAft>
              <a:buClrTx/>
              <a:buSzTx/>
              <a:buFontTx/>
              <a:buNone/>
              <a:tabLst/>
              <a:defRPr/>
            </a:pPr>
            <a:r>
              <a:rPr lang="en-US" altLang="ko-KR" sz="1200" b="1" i="0" kern="1200">
                <a:solidFill>
                  <a:schemeClr val="tx1"/>
                </a:solidFill>
                <a:effectLst/>
                <a:latin typeface="+mn-lt"/>
                <a:ea typeface="+mn-ea"/>
                <a:cs typeface="+mn-cs"/>
              </a:rPr>
              <a:t>Partial least-squares regression: a tutorial</a:t>
            </a:r>
          </a:p>
          <a:p>
            <a:pPr>
              <a:lnSpc>
                <a:spcPct val="114000"/>
              </a:lnSpc>
            </a:pPr>
            <a:r>
              <a:rPr lang="en-US" altLang="ko-KR" sz="1100">
                <a:latin typeface="Microsoft YaHei" panose="020B0503020204020204" pitchFamily="34" charset="-122"/>
              </a:rPr>
              <a:t> https://www.sciencedirect.com/science/article/abs/pii/0003267086800289</a:t>
            </a:r>
          </a:p>
          <a:p>
            <a:pPr>
              <a:lnSpc>
                <a:spcPct val="114000"/>
              </a:lnSpc>
            </a:pPr>
            <a:endParaRPr lang="en-US" altLang="ko-KR" sz="1100">
              <a:latin typeface="Microsoft YaHei" panose="020B0503020204020204" pitchFamily="34" charset="-122"/>
            </a:endParaRPr>
          </a:p>
          <a:p>
            <a:pPr>
              <a:lnSpc>
                <a:spcPct val="114000"/>
              </a:lnSpc>
            </a:pPr>
            <a:endParaRPr lang="en-US" altLang="ko-KR" sz="1100">
              <a:latin typeface="Microsoft YaHei" panose="020B0503020204020204" pitchFamily="34" charset="-122"/>
            </a:endParaRPr>
          </a:p>
          <a:p>
            <a:pPr>
              <a:lnSpc>
                <a:spcPct val="114000"/>
              </a:lnSpc>
            </a:pPr>
            <a:r>
              <a:rPr lang="en-US" altLang="ko-KR" sz="1100">
                <a:latin typeface="Microsoft YaHei" panose="020B0503020204020204" pitchFamily="34" charset="-122"/>
              </a:rPr>
              <a:t>&lt;</a:t>
            </a:r>
            <a:r>
              <a:rPr lang="ko-KR" altLang="en-US" sz="1100">
                <a:latin typeface="Microsoft YaHei" panose="020B0503020204020204" pitchFamily="34" charset="-122"/>
              </a:rPr>
              <a:t>다른 논문에서 쓰인 방식</a:t>
            </a:r>
            <a:r>
              <a:rPr lang="en-US" altLang="ko-KR" sz="1100">
                <a:latin typeface="Microsoft YaHei" panose="020B0503020204020204" pitchFamily="34" charset="-122"/>
              </a:rPr>
              <a:t>&gt;</a:t>
            </a:r>
          </a:p>
          <a:p>
            <a:pPr marL="342900" indent="-342900">
              <a:lnSpc>
                <a:spcPct val="114000"/>
              </a:lnSpc>
              <a:buAutoNum type="arabicPeriod"/>
            </a:pPr>
            <a:r>
              <a:rPr lang="en-US" altLang="ko-KR" sz="1000" kern="1200">
                <a:solidFill>
                  <a:schemeClr val="tx1"/>
                </a:solidFill>
                <a:latin typeface="+mn-lt"/>
                <a:ea typeface="+mn-ea"/>
                <a:cs typeface="+mn-cs"/>
              </a:rPr>
              <a:t>PLSR analysis was conducted using the PLSRegression function in </a:t>
            </a:r>
            <a:r>
              <a:rPr lang="en-US" altLang="ko-KR" sz="1000" u="sng" kern="1200">
                <a:solidFill>
                  <a:schemeClr val="tx1"/>
                </a:solidFill>
                <a:latin typeface="+mn-lt"/>
                <a:ea typeface="+mn-ea"/>
                <a:cs typeface="+mn-cs"/>
              </a:rPr>
              <a:t>the Python 3.7 sklearn.cross_decomposition machine learning statistical module</a:t>
            </a:r>
          </a:p>
          <a:p>
            <a:pPr marL="342900" indent="-342900">
              <a:lnSpc>
                <a:spcPct val="114000"/>
              </a:lnSpc>
              <a:buAutoNum type="arabicPeriod"/>
            </a:pPr>
            <a:r>
              <a:rPr lang="en-US" altLang="ko-KR" sz="1000" kern="1200">
                <a:solidFill>
                  <a:schemeClr val="tx1"/>
                </a:solidFill>
                <a:latin typeface="+mn-lt"/>
                <a:ea typeface="+mn-ea"/>
                <a:cs typeface="+mn-cs"/>
              </a:rPr>
              <a:t>Using a PLSR model </a:t>
            </a:r>
            <a:r>
              <a:rPr lang="en-US" altLang="ko-KR" sz="1000" u="sng" kern="1200">
                <a:solidFill>
                  <a:schemeClr val="tx1"/>
                </a:solidFill>
                <a:latin typeface="+mn-lt"/>
                <a:ea typeface="+mn-ea"/>
                <a:cs typeface="+mn-cs"/>
              </a:rPr>
              <a:t>with 5-fold validation with 1000 iterations, </a:t>
            </a:r>
            <a:r>
              <a:rPr lang="en-US" altLang="ko-KR" sz="1000" kern="1200">
                <a:solidFill>
                  <a:schemeClr val="tx1"/>
                </a:solidFill>
                <a:latin typeface="+mn-lt"/>
                <a:ea typeface="+mn-ea"/>
                <a:cs typeface="+mn-cs"/>
              </a:rPr>
              <a:t>we examined the predictive performance (i.e., r-value between actual and predicted scores) for each of four propagation phase stages</a:t>
            </a:r>
          </a:p>
          <a:p>
            <a:pPr marL="342900" indent="-342900">
              <a:lnSpc>
                <a:spcPct val="114000"/>
              </a:lnSpc>
              <a:buAutoNum type="arabicPeriod"/>
            </a:pPr>
            <a:r>
              <a:rPr lang="en-US" altLang="ko-KR" sz="1000" kern="1200">
                <a:solidFill>
                  <a:schemeClr val="tx1"/>
                </a:solidFill>
                <a:latin typeface="+mn-lt"/>
                <a:ea typeface="+mn-ea"/>
                <a:cs typeface="+mn-cs"/>
              </a:rPr>
              <a:t>Lastly, we adopted a machine-learning approach of Partial Least Squares Regression (PLSR), a robust regression modeling method suitable for </a:t>
            </a:r>
            <a:r>
              <a:rPr lang="en-US" altLang="ko-KR" sz="1000" u="sng" kern="1200">
                <a:solidFill>
                  <a:schemeClr val="tx1"/>
                </a:solidFill>
                <a:latin typeface="+mn-lt"/>
                <a:ea typeface="+mn-ea"/>
                <a:cs typeface="+mn-cs"/>
              </a:rPr>
              <a:t>analyzing high dimensional data with small sample sizes</a:t>
            </a:r>
          </a:p>
          <a:p>
            <a:pPr marL="342900" indent="-342900">
              <a:lnSpc>
                <a:spcPct val="114000"/>
              </a:lnSpc>
              <a:buAutoNum type="arabicPeriod"/>
            </a:pPr>
            <a:endParaRPr lang="en-US" altLang="ko-KR" sz="1000" u="sng" kern="1200">
              <a:solidFill>
                <a:schemeClr val="tx1"/>
              </a:solidFill>
              <a:latin typeface="+mn-lt"/>
              <a:ea typeface="+mn-ea"/>
              <a:cs typeface="+mn-cs"/>
            </a:endParaRPr>
          </a:p>
          <a:p>
            <a:pPr marL="342900" indent="-342900">
              <a:lnSpc>
                <a:spcPct val="114000"/>
              </a:lnSpc>
              <a:buAutoNum type="arabicPeriod"/>
            </a:pPr>
            <a:endParaRPr lang="en-US" altLang="ko-KR" sz="1000" u="sng" kern="1200">
              <a:solidFill>
                <a:schemeClr val="tx1"/>
              </a:solidFill>
              <a:latin typeface="+mn-lt"/>
              <a:ea typeface="+mn-ea"/>
              <a:cs typeface="+mn-cs"/>
            </a:endParaRPr>
          </a:p>
          <a:p>
            <a:pPr marL="0" indent="0">
              <a:lnSpc>
                <a:spcPct val="114000"/>
              </a:lnSpc>
              <a:buNone/>
            </a:pPr>
            <a:r>
              <a:rPr lang="en-US" altLang="ko-KR" sz="1000" u="none" kern="1200">
                <a:solidFill>
                  <a:schemeClr val="tx1"/>
                </a:solidFill>
                <a:latin typeface="+mn-lt"/>
                <a:ea typeface="+mn-ea"/>
                <a:cs typeface="+mn-cs"/>
              </a:rPr>
              <a:t>&lt;</a:t>
            </a:r>
            <a:r>
              <a:rPr lang="ko-KR" altLang="en-US" sz="1000" u="none" kern="1200">
                <a:solidFill>
                  <a:schemeClr val="tx1"/>
                </a:solidFill>
                <a:latin typeface="+mn-lt"/>
                <a:ea typeface="+mn-ea"/>
                <a:cs typeface="+mn-cs"/>
              </a:rPr>
              <a:t>코드에서 사용된 모델</a:t>
            </a:r>
            <a:r>
              <a:rPr lang="en-US" altLang="ko-KR" sz="1000" u="none" kern="1200">
                <a:solidFill>
                  <a:schemeClr val="tx1"/>
                </a:solidFill>
                <a:latin typeface="+mn-lt"/>
                <a:ea typeface="+mn-ea"/>
                <a:cs typeface="+mn-cs"/>
              </a:rPr>
              <a:t>&gt;</a:t>
            </a:r>
          </a:p>
          <a:p>
            <a:pPr marL="0" marR="0" lvl="0" indent="0" algn="l" defTabSz="914400" rtl="0" eaLnBrk="1" fontAlgn="auto" latinLnBrk="1" hangingPunct="1">
              <a:lnSpc>
                <a:spcPct val="114000"/>
              </a:lnSpc>
              <a:spcBef>
                <a:spcPts val="0"/>
              </a:spcBef>
              <a:spcAft>
                <a:spcPts val="0"/>
              </a:spcAft>
              <a:buClrTx/>
              <a:buSzTx/>
              <a:buFontTx/>
              <a:buNone/>
              <a:tabLst/>
              <a:defRPr/>
            </a:pPr>
            <a:r>
              <a:rPr lang="en-US" altLang="ko-KR" sz="1200" b="0" kern="1200">
                <a:solidFill>
                  <a:schemeClr val="tx1"/>
                </a:solidFill>
                <a:effectLst/>
                <a:latin typeface="+mn-lt"/>
                <a:ea typeface="+mn-ea"/>
                <a:cs typeface="+mn-cs"/>
              </a:rPr>
              <a:t>from sklearn.cross_decomposition import PLSRegression</a:t>
            </a:r>
          </a:p>
          <a:p>
            <a:pPr marL="0" indent="0">
              <a:lnSpc>
                <a:spcPct val="114000"/>
              </a:lnSpc>
              <a:buNone/>
            </a:pPr>
            <a:endParaRPr lang="en-US" altLang="ko-KR" sz="1000" u="sng" kern="1200">
              <a:solidFill>
                <a:schemeClr val="tx1"/>
              </a:solidFill>
              <a:latin typeface="+mn-lt"/>
              <a:ea typeface="+mn-ea"/>
              <a:cs typeface="+mn-cs"/>
            </a:endParaRPr>
          </a:p>
        </p:txBody>
      </p:sp>
      <p:sp>
        <p:nvSpPr>
          <p:cNvPr id="4" name="슬라이드 번호 개체 틀 3"/>
          <p:cNvSpPr>
            <a:spLocks noGrp="1"/>
          </p:cNvSpPr>
          <p:nvPr>
            <p:ph type="sldNum" sz="quarter" idx="5"/>
          </p:nvPr>
        </p:nvSpPr>
        <p:spPr/>
        <p:txBody>
          <a:bodyPr/>
          <a:lstStyle/>
          <a:p>
            <a:fld id="{7F513DFD-612C-4AD4-B627-4A6AF90DAEBF}" type="slidenum">
              <a:rPr lang="ko-KR" altLang="en-US" smtClean="0"/>
              <a:t>3</a:t>
            </a:fld>
            <a:endParaRPr lang="ko-KR" altLang="en-US"/>
          </a:p>
        </p:txBody>
      </p:sp>
    </p:spTree>
    <p:extLst>
      <p:ext uri="{BB962C8B-B14F-4D97-AF65-F5344CB8AC3E}">
        <p14:creationId xmlns:p14="http://schemas.microsoft.com/office/powerpoint/2010/main" val="413126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400" b="0" i="0" kern="1200">
                <a:solidFill>
                  <a:schemeClr val="tx1"/>
                </a:solidFill>
                <a:effectLst/>
                <a:latin typeface="+mn-lt"/>
                <a:ea typeface="+mn-ea"/>
                <a:cs typeface="+mn-cs"/>
              </a:rPr>
              <a:t>&lt;</a:t>
            </a:r>
            <a:r>
              <a:rPr lang="ko-KR" altLang="en-US" sz="1400" b="0" i="0" kern="1200">
                <a:solidFill>
                  <a:schemeClr val="tx1"/>
                </a:solidFill>
                <a:effectLst/>
                <a:latin typeface="+mn-lt"/>
                <a:ea typeface="+mn-ea"/>
                <a:cs typeface="+mn-cs"/>
              </a:rPr>
              <a:t>수식 논문</a:t>
            </a:r>
            <a:r>
              <a:rPr lang="en-US" altLang="ko-KR" sz="1400" b="0" i="0" kern="1200">
                <a:solidFill>
                  <a:schemeClr val="tx1"/>
                </a:solidFill>
                <a:effectLst/>
                <a:latin typeface="+mn-lt"/>
                <a:ea typeface="+mn-ea"/>
                <a:cs typeface="+mn-cs"/>
              </a:rPr>
              <a:t>&gt;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b="1" i="0" kern="1200">
                <a:solidFill>
                  <a:schemeClr val="tx1"/>
                </a:solidFill>
                <a:effectLst/>
                <a:latin typeface="+mn-lt"/>
                <a:ea typeface="+mn-ea"/>
                <a:cs typeface="+mn-cs"/>
              </a:rPr>
              <a:t>Principal component analysis: a review and recent developments</a:t>
            </a:r>
          </a:p>
          <a:p>
            <a:r>
              <a:rPr lang="en-US" altLang="ko-KR" sz="1400" b="0" i="0" kern="1200">
                <a:solidFill>
                  <a:schemeClr val="tx1"/>
                </a:solidFill>
                <a:effectLst/>
                <a:latin typeface="+mn-lt"/>
                <a:ea typeface="+mn-ea"/>
                <a:cs typeface="+mn-cs"/>
              </a:rPr>
              <a:t>https://royalsocietypublishing.org/rsta/article/374/2065/20150202/115142/Principal-component-analysis-a-review-and-recent</a:t>
            </a:r>
          </a:p>
          <a:p>
            <a:endParaRPr lang="en-US" altLang="ko-KR" sz="1400" b="0" i="0" kern="1200">
              <a:solidFill>
                <a:schemeClr val="tx1"/>
              </a:solidFill>
              <a:effectLst/>
              <a:latin typeface="+mn-lt"/>
              <a:ea typeface="+mn-ea"/>
              <a:cs typeface="+mn-cs"/>
            </a:endParaRPr>
          </a:p>
          <a:p>
            <a:endParaRPr lang="en-US" altLang="ko-KR" sz="1400" b="0" i="0" kern="1200">
              <a:solidFill>
                <a:schemeClr val="tx1"/>
              </a:solidFill>
              <a:effectLst/>
              <a:latin typeface="+mn-lt"/>
              <a:ea typeface="+mn-ea"/>
              <a:cs typeface="+mn-cs"/>
            </a:endParaRPr>
          </a:p>
          <a:p>
            <a:r>
              <a:rPr lang="en-US" altLang="ko-KR" sz="1400" b="0" i="0" kern="1200">
                <a:solidFill>
                  <a:schemeClr val="tx1"/>
                </a:solidFill>
                <a:effectLst/>
                <a:latin typeface="+mn-lt"/>
                <a:ea typeface="+mn-ea"/>
                <a:cs typeface="+mn-cs"/>
              </a:rPr>
              <a:t>&lt;</a:t>
            </a:r>
            <a:r>
              <a:rPr lang="ko-KR" altLang="en-US" sz="1400" b="0" i="0" kern="1200">
                <a:solidFill>
                  <a:schemeClr val="tx1"/>
                </a:solidFill>
                <a:effectLst/>
                <a:latin typeface="+mn-lt"/>
                <a:ea typeface="+mn-ea"/>
                <a:cs typeface="+mn-cs"/>
              </a:rPr>
              <a:t>다른 논문에서 쓰인 방식</a:t>
            </a:r>
            <a:r>
              <a:rPr lang="en-US" altLang="ko-KR" sz="1400" b="0" i="0" kern="1200">
                <a:solidFill>
                  <a:schemeClr val="tx1"/>
                </a:solidFill>
                <a:effectLst/>
                <a:latin typeface="+mn-lt"/>
                <a:ea typeface="+mn-ea"/>
                <a:cs typeface="+mn-cs"/>
              </a:rPr>
              <a:t>&gt; </a:t>
            </a:r>
          </a:p>
          <a:p>
            <a:r>
              <a:rPr lang="en-US" altLang="ko-KR" sz="1400" b="0" i="0" kern="1200">
                <a:solidFill>
                  <a:schemeClr val="tx1"/>
                </a:solidFill>
                <a:effectLst/>
                <a:latin typeface="+mn-lt"/>
                <a:ea typeface="+mn-ea"/>
                <a:cs typeface="+mn-cs"/>
              </a:rPr>
              <a:t>To assess whether each type of omics data accurately reflects the ages of individuals in our dataset, we conducted a PCA. Subsequently, we computed the Spearman correlation coefficient between the ages of participants and the first principal component (PC1</a:t>
            </a:r>
            <a:r>
              <a:rPr lang="en-US" altLang="ko-KR" sz="1400" b="0" i="0" u="sng" kern="1200">
                <a:solidFill>
                  <a:schemeClr val="tx1"/>
                </a:solidFill>
                <a:effectLst/>
                <a:latin typeface="+mn-lt"/>
                <a:ea typeface="+mn-ea"/>
                <a:cs typeface="+mn-cs"/>
              </a:rPr>
              <a:t>). The absolute value of this coefficient</a:t>
            </a:r>
            <a:r>
              <a:rPr lang="en-US" altLang="ko-KR" sz="1400" b="0" i="0" kern="1200">
                <a:solidFill>
                  <a:schemeClr val="tx1"/>
                </a:solidFill>
                <a:effectLst/>
                <a:latin typeface="+mn-lt"/>
                <a:ea typeface="+mn-ea"/>
                <a:cs typeface="+mn-cs"/>
              </a:rPr>
              <a:t> was used to evaluate the degree to which the omics data reflect the ages </a:t>
            </a:r>
            <a:r>
              <a:rPr lang="en-US" altLang="ko-KR" sz="1400"/>
              <a:t>(https://www.nature.com/articles/s43587-024-00692-2)</a:t>
            </a:r>
          </a:p>
          <a:p>
            <a:endParaRPr lang="en-US" altLang="ko-KR"/>
          </a:p>
          <a:p>
            <a:endParaRPr lang="en-US" altLang="ko-KR"/>
          </a:p>
          <a:p>
            <a:r>
              <a:rPr lang="en-US" altLang="ko-KR"/>
              <a:t>&lt;</a:t>
            </a:r>
            <a:r>
              <a:rPr lang="ko-KR" altLang="en-US"/>
              <a:t>코드에서 사용된 모델</a:t>
            </a:r>
            <a:r>
              <a:rPr lang="en-US" altLang="ko-KR"/>
              <a:t>&gt;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0" kern="1200">
                <a:solidFill>
                  <a:schemeClr val="tx1"/>
                </a:solidFill>
                <a:effectLst/>
                <a:latin typeface="+mn-lt"/>
                <a:ea typeface="+mn-ea"/>
                <a:cs typeface="+mn-cs"/>
              </a:rPr>
              <a:t>from sklearn.decomposition import PCA + </a:t>
            </a:r>
            <a:r>
              <a:rPr lang="en-US" altLang="ko-KR"/>
              <a:t>pingouin.partial_corr </a:t>
            </a:r>
          </a:p>
          <a:p>
            <a:endParaRPr lang="en-US" altLang="ko-KR"/>
          </a:p>
        </p:txBody>
      </p:sp>
      <p:sp>
        <p:nvSpPr>
          <p:cNvPr id="4" name="슬라이드 번호 개체 틀 3"/>
          <p:cNvSpPr>
            <a:spLocks noGrp="1"/>
          </p:cNvSpPr>
          <p:nvPr>
            <p:ph type="sldNum" sz="quarter" idx="5"/>
          </p:nvPr>
        </p:nvSpPr>
        <p:spPr/>
        <p:txBody>
          <a:bodyPr/>
          <a:lstStyle/>
          <a:p>
            <a:fld id="{7F513DFD-612C-4AD4-B627-4A6AF90DAEBF}" type="slidenum">
              <a:rPr lang="ko-KR" altLang="en-US" smtClean="0"/>
              <a:t>4</a:t>
            </a:fld>
            <a:endParaRPr lang="ko-KR" altLang="en-US"/>
          </a:p>
        </p:txBody>
      </p:sp>
    </p:spTree>
    <p:extLst>
      <p:ext uri="{BB962C8B-B14F-4D97-AF65-F5344CB8AC3E}">
        <p14:creationId xmlns:p14="http://schemas.microsoft.com/office/powerpoint/2010/main" val="2111075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a:solidFill>
                  <a:schemeClr val="tx1"/>
                </a:solidFill>
                <a:effectLst/>
                <a:latin typeface="+mn-lt"/>
                <a:ea typeface="+mn-ea"/>
                <a:cs typeface="+mn-cs"/>
              </a:rPr>
              <a:t>&lt;</a:t>
            </a:r>
            <a:r>
              <a:rPr lang="ko-KR" altLang="en-US" sz="1200" b="0" i="0" kern="1200">
                <a:solidFill>
                  <a:schemeClr val="tx1"/>
                </a:solidFill>
                <a:effectLst/>
                <a:latin typeface="+mn-lt"/>
                <a:ea typeface="+mn-ea"/>
                <a:cs typeface="+mn-cs"/>
              </a:rPr>
              <a:t>수식 논문</a:t>
            </a:r>
            <a:r>
              <a:rPr lang="en-US" altLang="ko-KR" sz="1200" b="0" i="0" kern="1200">
                <a:solidFill>
                  <a:schemeClr val="tx1"/>
                </a:solidFill>
                <a:effectLst/>
                <a:latin typeface="+mn-lt"/>
                <a:ea typeface="+mn-ea"/>
                <a:cs typeface="+mn-cs"/>
              </a:rPr>
              <a:t>&gt;</a:t>
            </a:r>
          </a:p>
          <a:p>
            <a:endParaRPr lang="en-US" altLang="ko-KR" sz="1200" b="0" i="0" kern="1200">
              <a:solidFill>
                <a:schemeClr val="tx1"/>
              </a:solidFill>
              <a:effectLst/>
              <a:latin typeface="+mn-lt"/>
              <a:ea typeface="+mn-ea"/>
              <a:cs typeface="+mn-cs"/>
            </a:endParaRPr>
          </a:p>
          <a:p>
            <a:endParaRPr lang="en-US" altLang="ko-KR" sz="1200" b="0" i="0" kern="1200">
              <a:solidFill>
                <a:schemeClr val="tx1"/>
              </a:solidFill>
              <a:effectLst/>
              <a:latin typeface="+mn-lt"/>
              <a:ea typeface="+mn-ea"/>
              <a:cs typeface="+mn-cs"/>
            </a:endParaRPr>
          </a:p>
          <a:p>
            <a:endParaRPr lang="en-US" altLang="ko-KR" sz="1200" b="0" i="0" kern="1200">
              <a:solidFill>
                <a:schemeClr val="tx1"/>
              </a:solidFill>
              <a:effectLst/>
              <a:latin typeface="+mn-lt"/>
              <a:ea typeface="+mn-ea"/>
              <a:cs typeface="+mn-cs"/>
            </a:endParaRPr>
          </a:p>
          <a:p>
            <a:r>
              <a:rPr lang="en-US" altLang="ko-KR" sz="1200" b="0" i="0" kern="1200">
                <a:solidFill>
                  <a:schemeClr val="tx1"/>
                </a:solidFill>
                <a:effectLst/>
                <a:latin typeface="+mn-lt"/>
                <a:ea typeface="+mn-ea"/>
                <a:cs typeface="+mn-cs"/>
              </a:rPr>
              <a:t>&lt;</a:t>
            </a:r>
            <a:r>
              <a:rPr lang="ko-KR" altLang="en-US" sz="1200" b="0" i="0" kern="1200">
                <a:solidFill>
                  <a:schemeClr val="tx1"/>
                </a:solidFill>
                <a:effectLst/>
                <a:latin typeface="+mn-lt"/>
                <a:ea typeface="+mn-ea"/>
                <a:cs typeface="+mn-cs"/>
              </a:rPr>
              <a:t>다른 논문에서 쓰인 방식</a:t>
            </a:r>
            <a:r>
              <a:rPr lang="en-US" altLang="ko-KR" sz="1200" b="0" i="0" kern="1200">
                <a:solidFill>
                  <a:schemeClr val="tx1"/>
                </a:solidFill>
                <a:effectLst/>
                <a:latin typeface="+mn-lt"/>
                <a:ea typeface="+mn-ea"/>
                <a:cs typeface="+mn-cs"/>
              </a:rPr>
              <a:t>&gt;</a:t>
            </a:r>
          </a:p>
          <a:p>
            <a:r>
              <a:rPr lang="en-US" altLang="ko-KR" sz="1200" b="0" i="0" kern="1200">
                <a:solidFill>
                  <a:schemeClr val="tx1"/>
                </a:solidFill>
                <a:effectLst/>
                <a:latin typeface="+mn-lt"/>
                <a:ea typeface="+mn-ea"/>
                <a:cs typeface="+mn-cs"/>
              </a:rPr>
              <a:t>We considered 661 non-rare microbial species (greater than 20% prevalence; Methods) according to the definition of species-level genome bins (SGBs)</a:t>
            </a:r>
            <a:r>
              <a:rPr lang="en-US" altLang="ko-KR" sz="1200" b="0" i="0" kern="1200" baseline="30000">
                <a:solidFill>
                  <a:schemeClr val="tx1"/>
                </a:solidFill>
                <a:effectLst/>
                <a:latin typeface="+mn-lt"/>
                <a:ea typeface="+mn-ea"/>
                <a:cs typeface="+mn-cs"/>
              </a:rPr>
              <a:t> </a:t>
            </a:r>
            <a:r>
              <a:rPr lang="en-US" altLang="ko-KR" sz="1200" b="0" i="0" kern="1200">
                <a:solidFill>
                  <a:schemeClr val="tx1"/>
                </a:solidFill>
                <a:effectLst/>
                <a:latin typeface="+mn-lt"/>
                <a:ea typeface="+mn-ea"/>
                <a:cs typeface="+mn-cs"/>
              </a:rPr>
              <a:t>and computed the partial Spearman’s correlations </a:t>
            </a:r>
            <a:r>
              <a:rPr lang="en-US" altLang="ko-KR" sz="1200" b="0" i="0" u="sng" kern="1200">
                <a:solidFill>
                  <a:schemeClr val="tx1"/>
                </a:solidFill>
                <a:effectLst/>
                <a:latin typeface="+mn-lt"/>
                <a:ea typeface="+mn-ea"/>
                <a:cs typeface="+mn-cs"/>
              </a:rPr>
              <a:t>(corrected for sex, age and BMI) </a:t>
            </a:r>
            <a:r>
              <a:rPr lang="en-US" altLang="ko-KR" sz="1200" b="0" i="0" kern="1200">
                <a:solidFill>
                  <a:schemeClr val="tx1"/>
                </a:solidFill>
                <a:effectLst/>
                <a:latin typeface="+mn-lt"/>
                <a:ea typeface="+mn-ea"/>
                <a:cs typeface="+mn-cs"/>
              </a:rPr>
              <a:t>between the relative abundance of each micro-organism and the value of each marker. (https://www.nature.com/articles/s41531-026-01299-7)</a:t>
            </a:r>
          </a:p>
          <a:p>
            <a:endParaRPr lang="en-US" altLang="ko-KR" sz="1200" b="0" i="0" kern="1200">
              <a:solidFill>
                <a:schemeClr val="tx1"/>
              </a:solidFill>
              <a:effectLst/>
              <a:latin typeface="+mn-lt"/>
              <a:ea typeface="+mn-ea"/>
              <a:cs typeface="+mn-cs"/>
            </a:endParaRPr>
          </a:p>
          <a:p>
            <a:endParaRPr lang="en-US" altLang="ko-KR" sz="1200" b="0" i="0" kern="1200">
              <a:solidFill>
                <a:schemeClr val="tx1"/>
              </a:solidFill>
              <a:effectLst/>
              <a:latin typeface="+mn-lt"/>
              <a:ea typeface="+mn-ea"/>
              <a:cs typeface="+mn-cs"/>
            </a:endParaRPr>
          </a:p>
          <a:p>
            <a:r>
              <a:rPr lang="en-US" altLang="ko-KR" sz="1200" b="0" i="0" kern="1200">
                <a:solidFill>
                  <a:schemeClr val="tx1"/>
                </a:solidFill>
                <a:effectLst/>
                <a:latin typeface="+mn-lt"/>
                <a:ea typeface="+mn-ea"/>
                <a:cs typeface="+mn-cs"/>
              </a:rPr>
              <a:t>&lt;</a:t>
            </a:r>
            <a:r>
              <a:rPr lang="ko-KR" altLang="en-US" sz="1200" b="0" i="0" kern="1200">
                <a:solidFill>
                  <a:schemeClr val="tx1"/>
                </a:solidFill>
                <a:effectLst/>
                <a:latin typeface="+mn-lt"/>
                <a:ea typeface="+mn-ea"/>
                <a:cs typeface="+mn-cs"/>
              </a:rPr>
              <a:t>코드에서 사용된 모델</a:t>
            </a:r>
            <a:r>
              <a:rPr lang="en-US" altLang="ko-KR" sz="1200" b="0" i="0" kern="1200">
                <a:solidFill>
                  <a:schemeClr val="tx1"/>
                </a:solidFill>
                <a:effectLst/>
                <a:latin typeface="+mn-lt"/>
                <a:ea typeface="+mn-ea"/>
                <a:cs typeface="+mn-cs"/>
              </a:rPr>
              <a:t>&gt;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a:t>pingouin.partial_corr(</a:t>
            </a:r>
            <a:r>
              <a:rPr lang="en-US" altLang="ko-KR" sz="1200" b="0" kern="1200">
                <a:solidFill>
                  <a:schemeClr val="tx1"/>
                </a:solidFill>
                <a:effectLst/>
                <a:latin typeface="+mn-lt"/>
                <a:ea typeface="+mn-ea"/>
                <a:cs typeface="+mn-cs"/>
              </a:rPr>
              <a:t>method="spearman“)</a:t>
            </a:r>
          </a:p>
        </p:txBody>
      </p:sp>
      <p:sp>
        <p:nvSpPr>
          <p:cNvPr id="4" name="슬라이드 번호 개체 틀 3"/>
          <p:cNvSpPr>
            <a:spLocks noGrp="1"/>
          </p:cNvSpPr>
          <p:nvPr>
            <p:ph type="sldNum" sz="quarter" idx="5"/>
          </p:nvPr>
        </p:nvSpPr>
        <p:spPr/>
        <p:txBody>
          <a:bodyPr/>
          <a:lstStyle/>
          <a:p>
            <a:fld id="{7F513DFD-612C-4AD4-B627-4A6AF90DAEBF}" type="slidenum">
              <a:rPr lang="ko-KR" altLang="en-US" smtClean="0"/>
              <a:t>5</a:t>
            </a:fld>
            <a:endParaRPr lang="ko-KR" altLang="en-US"/>
          </a:p>
        </p:txBody>
      </p:sp>
    </p:spTree>
    <p:extLst>
      <p:ext uri="{BB962C8B-B14F-4D97-AF65-F5344CB8AC3E}">
        <p14:creationId xmlns:p14="http://schemas.microsoft.com/office/powerpoint/2010/main" val="556797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0" i="0" kern="1200">
                <a:solidFill>
                  <a:schemeClr val="tx1"/>
                </a:solidFill>
                <a:effectLst/>
                <a:latin typeface="+mn-lt"/>
                <a:ea typeface="+mn-ea"/>
                <a:cs typeface="+mn-cs"/>
              </a:rPr>
              <a:t>&lt;</a:t>
            </a:r>
            <a:r>
              <a:rPr lang="ko-KR" altLang="en-US" sz="1200" b="0" i="0" kern="1200">
                <a:solidFill>
                  <a:schemeClr val="tx1"/>
                </a:solidFill>
                <a:effectLst/>
                <a:latin typeface="+mn-lt"/>
                <a:ea typeface="+mn-ea"/>
                <a:cs typeface="+mn-cs"/>
              </a:rPr>
              <a:t>수식 논문</a:t>
            </a:r>
            <a:r>
              <a:rPr lang="en-US" altLang="ko-KR" sz="1200" b="0" i="0" kern="1200">
                <a:solidFill>
                  <a:schemeClr val="tx1"/>
                </a:solidFill>
                <a:effectLst/>
                <a:latin typeface="+mn-lt"/>
                <a:ea typeface="+mn-ea"/>
                <a:cs typeface="+mn-cs"/>
              </a:rPr>
              <a:t>&gt;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i="0" kern="1200">
                <a:solidFill>
                  <a:schemeClr val="tx1"/>
                </a:solidFill>
                <a:effectLst/>
                <a:latin typeface="+mn-lt"/>
                <a:ea typeface="+mn-ea"/>
                <a:cs typeface="+mn-cs"/>
              </a:rPr>
              <a:t>Principal component analysis: a review and recent developments</a:t>
            </a:r>
          </a:p>
          <a:p>
            <a:r>
              <a:rPr lang="en-US" altLang="ko-KR" sz="1200" b="0" i="0" kern="1200">
                <a:solidFill>
                  <a:schemeClr val="tx1"/>
                </a:solidFill>
                <a:effectLst/>
                <a:latin typeface="+mn-lt"/>
                <a:ea typeface="+mn-ea"/>
                <a:cs typeface="+mn-cs"/>
              </a:rPr>
              <a:t>https://royalsocietypublishing.org/rsta/article/374/2065/20150202/115142/Principal-component-analysis-a-review-and-recent</a:t>
            </a:r>
          </a:p>
          <a:p>
            <a:endParaRPr lang="en-US" altLang="ko-KR" sz="1200" b="0" i="0" kern="1200">
              <a:solidFill>
                <a:schemeClr val="tx1"/>
              </a:solidFill>
              <a:effectLst/>
              <a:latin typeface="+mn-lt"/>
              <a:ea typeface="+mn-ea"/>
              <a:cs typeface="+mn-cs"/>
            </a:endParaRPr>
          </a:p>
          <a:p>
            <a:endParaRPr lang="en-US" altLang="ko-KR" sz="1200" b="0" i="0" kern="1200">
              <a:solidFill>
                <a:schemeClr val="tx1"/>
              </a:solidFill>
              <a:effectLst/>
              <a:latin typeface="+mn-lt"/>
              <a:ea typeface="+mn-ea"/>
              <a:cs typeface="+mn-cs"/>
            </a:endParaRPr>
          </a:p>
          <a:p>
            <a:r>
              <a:rPr lang="en-US" altLang="ko-KR" sz="1200" b="0" i="0" kern="1200">
                <a:solidFill>
                  <a:schemeClr val="tx1"/>
                </a:solidFill>
                <a:effectLst/>
                <a:latin typeface="+mn-lt"/>
                <a:ea typeface="+mn-ea"/>
                <a:cs typeface="+mn-cs"/>
              </a:rPr>
              <a:t>&lt;</a:t>
            </a:r>
            <a:r>
              <a:rPr lang="ko-KR" altLang="en-US" sz="1200" b="0" i="0" kern="1200">
                <a:solidFill>
                  <a:schemeClr val="tx1"/>
                </a:solidFill>
                <a:effectLst/>
                <a:latin typeface="+mn-lt"/>
                <a:ea typeface="+mn-ea"/>
                <a:cs typeface="+mn-cs"/>
              </a:rPr>
              <a:t>다른 논문에서 쓰인 방식</a:t>
            </a:r>
            <a:r>
              <a:rPr lang="en-US" altLang="ko-KR" sz="1200" b="0" i="0" kern="1200">
                <a:solidFill>
                  <a:schemeClr val="tx1"/>
                </a:solidFill>
                <a:effectLst/>
                <a:latin typeface="+mn-lt"/>
                <a:ea typeface="+mn-ea"/>
                <a:cs typeface="+mn-cs"/>
              </a:rPr>
              <a:t>&gt;</a:t>
            </a:r>
          </a:p>
          <a:p>
            <a:r>
              <a:rPr lang="en-US" altLang="ko-KR" sz="1200" b="0" i="0" kern="1200">
                <a:solidFill>
                  <a:schemeClr val="tx1"/>
                </a:solidFill>
                <a:effectLst/>
                <a:latin typeface="+mn-lt"/>
                <a:ea typeface="+mn-ea"/>
                <a:cs typeface="+mn-cs"/>
              </a:rPr>
              <a:t>The modules were then tested for their associations with clinical variables by correlating module eigengenes (MEs, defined as the first principal component of each module) with scale values using </a:t>
            </a:r>
            <a:r>
              <a:rPr lang="en-US" altLang="ko-KR" sz="1200" b="0" i="0" u="sng" kern="1200">
                <a:solidFill>
                  <a:schemeClr val="tx1"/>
                </a:solidFill>
                <a:effectLst/>
                <a:latin typeface="+mn-lt"/>
                <a:ea typeface="+mn-ea"/>
                <a:cs typeface="+mn-cs"/>
              </a:rPr>
              <a:t>Pearson partial correlation</a:t>
            </a:r>
            <a:r>
              <a:rPr lang="en-US" altLang="ko-KR" sz="1200" b="0" i="0" kern="1200">
                <a:solidFill>
                  <a:schemeClr val="tx1"/>
                </a:solidFill>
                <a:effectLst/>
                <a:latin typeface="+mn-lt"/>
                <a:ea typeface="+mn-ea"/>
                <a:cs typeface="+mn-cs"/>
              </a:rPr>
              <a:t>. For each significant module, the correlation between the gene significance (GS, the absolute value of the Pearson correlation between each gene expression and scale score) and its module membership (MM, the correlation between gene expression and the module eigengene) </a:t>
            </a:r>
            <a:r>
              <a:rPr lang="en-US" altLang="ko-KR" sz="1200" b="0" i="0" u="sng" kern="1200">
                <a:solidFill>
                  <a:schemeClr val="tx1"/>
                </a:solidFill>
                <a:effectLst/>
                <a:latin typeface="+mn-lt"/>
                <a:ea typeface="+mn-ea"/>
                <a:cs typeface="+mn-cs"/>
              </a:rPr>
              <a:t>was calculated adjusted by sex, age, age at onset, ethnicity, and cell count</a:t>
            </a:r>
            <a:r>
              <a:rPr lang="en-US" altLang="ko-KR" sz="1200" b="0" i="0" kern="1200">
                <a:solidFill>
                  <a:schemeClr val="tx1"/>
                </a:solidFill>
                <a:effectLst/>
                <a:latin typeface="+mn-lt"/>
                <a:ea typeface="+mn-ea"/>
                <a:cs typeface="+mn-cs"/>
              </a:rPr>
              <a:t>. Boostrapping was used as a cross-validation approach and the confidence intervals for the correlation coefficient were estimated using 1000 random samples. </a:t>
            </a:r>
            <a:r>
              <a:rPr lang="en-US" altLang="ko-KR" sz="1200" b="0" i="0" u="sng" kern="1200">
                <a:solidFill>
                  <a:schemeClr val="tx1"/>
                </a:solidFill>
                <a:effectLst/>
                <a:latin typeface="+mn-lt"/>
                <a:ea typeface="+mn-ea"/>
                <a:cs typeface="+mn-cs"/>
              </a:rPr>
              <a:t>Multiple testing corrections were applied using the false discovery rate (FDR) as described by Benjamini &amp; Hochberg.</a:t>
            </a:r>
            <a:r>
              <a:rPr lang="en-US" altLang="ko-KR" sz="1200" b="0" i="0" kern="1200">
                <a:solidFill>
                  <a:schemeClr val="tx1"/>
                </a:solidFill>
                <a:effectLst/>
                <a:latin typeface="+mn-lt"/>
                <a:ea typeface="+mn-ea"/>
                <a:cs typeface="+mn-cs"/>
              </a:rPr>
              <a:t> According to this method, </a:t>
            </a:r>
            <a:r>
              <a:rPr lang="en-US" altLang="ko-KR" sz="1200" b="0" i="1" kern="1200">
                <a:solidFill>
                  <a:schemeClr val="tx1"/>
                </a:solidFill>
                <a:effectLst/>
                <a:latin typeface="+mn-lt"/>
                <a:ea typeface="+mn-ea"/>
                <a:cs typeface="+mn-cs"/>
              </a:rPr>
              <a:t>p</a:t>
            </a:r>
            <a:r>
              <a:rPr lang="en-US" altLang="ko-KR" sz="1200" b="0" i="0" kern="1200">
                <a:solidFill>
                  <a:schemeClr val="tx1"/>
                </a:solidFill>
                <a:effectLst/>
                <a:latin typeface="+mn-lt"/>
                <a:ea typeface="+mn-ea"/>
                <a:cs typeface="+mn-cs"/>
              </a:rPr>
              <a:t>-value &lt; 0.007 was considered statistically significant.</a:t>
            </a:r>
          </a:p>
          <a:p>
            <a:r>
              <a:rPr lang="en-US" altLang="ko-KR"/>
              <a:t>https://www.nature.com/articles/s41537-022-00215-1</a:t>
            </a:r>
            <a:br>
              <a:rPr lang="en-US" altLang="ko-KR"/>
            </a:br>
            <a:endParaRPr lang="en-US" altLang="ko-KR"/>
          </a:p>
          <a:p>
            <a:endParaRPr lang="en-US" altLang="ko-KR"/>
          </a:p>
          <a:p>
            <a:r>
              <a:rPr lang="en-US" altLang="ko-KR"/>
              <a:t>&lt;</a:t>
            </a:r>
            <a:r>
              <a:rPr lang="ko-KR" altLang="en-US"/>
              <a:t>코드에서 쓴 모델</a:t>
            </a:r>
            <a:r>
              <a:rPr lang="en-US" altLang="ko-KR"/>
              <a:t>&gt;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0" kern="1200">
                <a:solidFill>
                  <a:schemeClr val="tx1"/>
                </a:solidFill>
                <a:effectLst/>
                <a:latin typeface="+mn-lt"/>
                <a:ea typeface="+mn-ea"/>
                <a:cs typeface="+mn-cs"/>
              </a:rPr>
              <a:t>from sklearn.decomposition import PCA + </a:t>
            </a:r>
            <a:r>
              <a:rPr lang="en-US" altLang="ko-KR"/>
              <a:t>pingouin.partial_corr </a:t>
            </a:r>
          </a:p>
          <a:p>
            <a:endParaRPr lang="ko-KR" altLang="en-US"/>
          </a:p>
        </p:txBody>
      </p:sp>
      <p:sp>
        <p:nvSpPr>
          <p:cNvPr id="4" name="슬라이드 번호 개체 틀 3"/>
          <p:cNvSpPr>
            <a:spLocks noGrp="1"/>
          </p:cNvSpPr>
          <p:nvPr>
            <p:ph type="sldNum" sz="quarter" idx="5"/>
          </p:nvPr>
        </p:nvSpPr>
        <p:spPr/>
        <p:txBody>
          <a:bodyPr/>
          <a:lstStyle/>
          <a:p>
            <a:fld id="{7F513DFD-612C-4AD4-B627-4A6AF90DAEBF}" type="slidenum">
              <a:rPr lang="ko-KR" altLang="en-US" smtClean="0"/>
              <a:t>6</a:t>
            </a:fld>
            <a:endParaRPr lang="ko-KR" altLang="en-US"/>
          </a:p>
        </p:txBody>
      </p:sp>
    </p:spTree>
    <p:extLst>
      <p:ext uri="{BB962C8B-B14F-4D97-AF65-F5344CB8AC3E}">
        <p14:creationId xmlns:p14="http://schemas.microsoft.com/office/powerpoint/2010/main" val="1977111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슬라이드 </a:t>
            </a:r>
            <a:r>
              <a:rPr lang="en-US" altLang="ko-KR"/>
              <a:t>6</a:t>
            </a:r>
            <a:r>
              <a:rPr lang="ko-KR" altLang="en-US"/>
              <a:t>과 동일</a:t>
            </a:r>
          </a:p>
        </p:txBody>
      </p:sp>
      <p:sp>
        <p:nvSpPr>
          <p:cNvPr id="4" name="슬라이드 번호 개체 틀 3"/>
          <p:cNvSpPr>
            <a:spLocks noGrp="1"/>
          </p:cNvSpPr>
          <p:nvPr>
            <p:ph type="sldNum" sz="quarter" idx="5"/>
          </p:nvPr>
        </p:nvSpPr>
        <p:spPr/>
        <p:txBody>
          <a:bodyPr/>
          <a:lstStyle/>
          <a:p>
            <a:fld id="{7F513DFD-612C-4AD4-B627-4A6AF90DAEBF}" type="slidenum">
              <a:rPr lang="ko-KR" altLang="en-US" smtClean="0"/>
              <a:t>7</a:t>
            </a:fld>
            <a:endParaRPr lang="ko-KR" altLang="en-US"/>
          </a:p>
        </p:txBody>
      </p:sp>
    </p:spTree>
    <p:extLst>
      <p:ext uri="{BB962C8B-B14F-4D97-AF65-F5344CB8AC3E}">
        <p14:creationId xmlns:p14="http://schemas.microsoft.com/office/powerpoint/2010/main" val="2287500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슬라이드 </a:t>
            </a:r>
            <a:r>
              <a:rPr lang="en-US" altLang="ko-KR"/>
              <a:t>6</a:t>
            </a:r>
            <a:r>
              <a:rPr lang="ko-KR" altLang="en-US"/>
              <a:t>과 동일</a:t>
            </a:r>
          </a:p>
        </p:txBody>
      </p:sp>
      <p:sp>
        <p:nvSpPr>
          <p:cNvPr id="4" name="슬라이드 번호 개체 틀 3"/>
          <p:cNvSpPr>
            <a:spLocks noGrp="1"/>
          </p:cNvSpPr>
          <p:nvPr>
            <p:ph type="sldNum" sz="quarter" idx="5"/>
          </p:nvPr>
        </p:nvSpPr>
        <p:spPr/>
        <p:txBody>
          <a:bodyPr/>
          <a:lstStyle/>
          <a:p>
            <a:fld id="{7F513DFD-612C-4AD4-B627-4A6AF90DAEBF}" type="slidenum">
              <a:rPr lang="ko-KR" altLang="en-US" smtClean="0"/>
              <a:t>8</a:t>
            </a:fld>
            <a:endParaRPr lang="ko-KR" altLang="en-US"/>
          </a:p>
        </p:txBody>
      </p:sp>
    </p:spTree>
    <p:extLst>
      <p:ext uri="{BB962C8B-B14F-4D97-AF65-F5344CB8AC3E}">
        <p14:creationId xmlns:p14="http://schemas.microsoft.com/office/powerpoint/2010/main" val="2786304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D55A216-D03B-4F88-B86E-7E1B9521FB9A}"/>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1BA0E3F0-CF20-4DCA-9D8A-9360A4B4F6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0821F15-271F-4F58-B272-8185BEE11D24}"/>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5" name="바닥글 개체 틀 4">
            <a:extLst>
              <a:ext uri="{FF2B5EF4-FFF2-40B4-BE49-F238E27FC236}">
                <a16:creationId xmlns:a16="http://schemas.microsoft.com/office/drawing/2014/main" id="{08A29DEE-54BE-4832-8C9C-446B8F92421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35B66DC-9CE6-433D-93F9-9710ABB422B8}"/>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258981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2A2B039-470F-4DA4-9A7B-63CF39DE6B3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CE426C2-92B9-4035-8220-0C2B0CB9B7E7}"/>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AD78F95-D28B-4082-B0F4-C086D0B7F0BF}"/>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5" name="바닥글 개체 틀 4">
            <a:extLst>
              <a:ext uri="{FF2B5EF4-FFF2-40B4-BE49-F238E27FC236}">
                <a16:creationId xmlns:a16="http://schemas.microsoft.com/office/drawing/2014/main" id="{635B5E63-B4EA-4F17-87FA-0904D2C180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C48D9E2-CC64-4A7D-BC83-ED2D21FA767E}"/>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1533283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2B28308-7F63-4EB4-85DA-1CBA2AC7E204}"/>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1E2E9A9C-B218-494E-B6E4-C5C2AF8FAF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C57293A-ACA7-4DA1-8313-A4C959F03A1E}"/>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5" name="바닥글 개체 틀 4">
            <a:extLst>
              <a:ext uri="{FF2B5EF4-FFF2-40B4-BE49-F238E27FC236}">
                <a16:creationId xmlns:a16="http://schemas.microsoft.com/office/drawing/2014/main" id="{B0611F65-1FC4-412F-802A-894ABE3742D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4512380-EB71-40DD-8F85-4FE65E884047}"/>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145695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54FA67A-906C-44E3-AAE8-D67264EDB4EB}"/>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A51EBEC-5352-469E-BDF3-DC2203E418DC}"/>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109070BE-4914-442D-B0E6-A1387492F52B}"/>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9A29A088-6C39-4609-95D5-9E4A922B4990}"/>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6" name="바닥글 개체 틀 5">
            <a:extLst>
              <a:ext uri="{FF2B5EF4-FFF2-40B4-BE49-F238E27FC236}">
                <a16:creationId xmlns:a16="http://schemas.microsoft.com/office/drawing/2014/main" id="{8F05A6C3-9EFE-4583-B877-47D2F0C61B4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0951EED-249D-4C9D-8589-2A64BBF8DE99}"/>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2049940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BE7ED42-463A-4294-9791-8207851EC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9B28CBC5-5540-4E8B-8017-D9CAAA775E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83FAF7C9-2B7C-4F57-8503-B8D80505D1D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080F5762-0ACC-46E4-B2E2-D8A84080C9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CB44F44-0D55-4955-A127-EEBA9BF959BE}"/>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955D35E0-D6CC-40D4-BFE1-927FDC662C69}"/>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8" name="바닥글 개체 틀 7">
            <a:extLst>
              <a:ext uri="{FF2B5EF4-FFF2-40B4-BE49-F238E27FC236}">
                <a16:creationId xmlns:a16="http://schemas.microsoft.com/office/drawing/2014/main" id="{BC155D82-0D47-4ECA-8DEC-F2CDEC9035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B319C446-B137-4A27-8F41-0DC4AEA1AC42}"/>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2340367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862C68F-4024-4547-B4F1-A49AC1FF4E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8BD391AD-1946-4743-917E-4E06903C4D50}"/>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4" name="바닥글 개체 틀 3">
            <a:extLst>
              <a:ext uri="{FF2B5EF4-FFF2-40B4-BE49-F238E27FC236}">
                <a16:creationId xmlns:a16="http://schemas.microsoft.com/office/drawing/2014/main" id="{002074B8-A2AF-4083-8CE0-EE9C78EB65F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24A405F4-D6FE-4E12-BCC8-F4EE44A893EA}"/>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2577478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1FB840C-29EB-430D-A594-D55CD4751B8C}"/>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3" name="바닥글 개체 틀 2">
            <a:extLst>
              <a:ext uri="{FF2B5EF4-FFF2-40B4-BE49-F238E27FC236}">
                <a16:creationId xmlns:a16="http://schemas.microsoft.com/office/drawing/2014/main" id="{7909061C-5550-4DD9-8D89-A35C8B679B85}"/>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C6385093-1424-4211-8129-99A5EAF17EB9}"/>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1229860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6B11845-2CB8-4A5D-A30B-1320299E4DA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3824568-05C0-4AEA-B9FF-D4EEE04DFD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2E5373CA-8530-4C85-9E6D-D63C72C8D4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AA431FA8-37B1-4EDA-89A4-4040B7C97199}"/>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6" name="바닥글 개체 틀 5">
            <a:extLst>
              <a:ext uri="{FF2B5EF4-FFF2-40B4-BE49-F238E27FC236}">
                <a16:creationId xmlns:a16="http://schemas.microsoft.com/office/drawing/2014/main" id="{7A931931-F498-4D42-899E-0F92F5CC2B2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7DE08B5-FCAE-4625-86F4-277D0F1119ED}"/>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3924626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2F531E-9CB4-4E4F-9C31-45429CA8571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A9108660-9CFB-4A1F-B411-1025A72128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9613FD09-F78E-4C54-A962-C6670DC645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12508E88-1E71-4215-9FCC-37D42F51B44E}"/>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6" name="바닥글 개체 틀 5">
            <a:extLst>
              <a:ext uri="{FF2B5EF4-FFF2-40B4-BE49-F238E27FC236}">
                <a16:creationId xmlns:a16="http://schemas.microsoft.com/office/drawing/2014/main" id="{040A7A0C-4E5D-4F11-A0C5-19591CCDD7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475867E-1C47-47A2-9386-E5BA3D54F6E2}"/>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2535526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0F1EF-1D1E-4127-ACFD-AC8B6A706023}"/>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D9AF93A3-CE20-4BC9-9DCF-DA6CE710233A}"/>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49FB2605-2E7F-4C76-A10F-768317EF918B}"/>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5" name="바닥글 개체 틀 4">
            <a:extLst>
              <a:ext uri="{FF2B5EF4-FFF2-40B4-BE49-F238E27FC236}">
                <a16:creationId xmlns:a16="http://schemas.microsoft.com/office/drawing/2014/main" id="{BCEC19E5-8D88-4363-BCC1-03C04D7C26D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2E96B30-3B9F-4296-A362-F3EA97BBFEBB}"/>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156865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D3E477E-D514-49FE-B422-4257E1452F9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E87F625D-57F6-473A-994E-AE35CD99BF8C}"/>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4460CD3E-FE35-457E-AFFB-A0204F1C8CF2}"/>
              </a:ext>
            </a:extLst>
          </p:cNvPr>
          <p:cNvSpPr>
            <a:spLocks noGrp="1"/>
          </p:cNvSpPr>
          <p:nvPr>
            <p:ph type="dt" sz="half" idx="10"/>
          </p:nvPr>
        </p:nvSpPr>
        <p:spPr/>
        <p:txBody>
          <a:bodyPr/>
          <a:lstStyle/>
          <a:p>
            <a:fld id="{A8D80C48-1AC8-44D2-BC41-C7C1B1A8AA3B}" type="datetimeFigureOut">
              <a:rPr lang="ko-KR" altLang="en-US" smtClean="0"/>
              <a:t>2026-04-13</a:t>
            </a:fld>
            <a:endParaRPr lang="ko-KR" altLang="en-US"/>
          </a:p>
        </p:txBody>
      </p:sp>
      <p:sp>
        <p:nvSpPr>
          <p:cNvPr id="5" name="바닥글 개체 틀 4">
            <a:extLst>
              <a:ext uri="{FF2B5EF4-FFF2-40B4-BE49-F238E27FC236}">
                <a16:creationId xmlns:a16="http://schemas.microsoft.com/office/drawing/2014/main" id="{6532C5C4-DD79-49AA-A695-3C9F373C9A8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BEB5B9A-3D62-4A15-8AC5-64ABE4B0B6FB}"/>
              </a:ext>
            </a:extLst>
          </p:cNvPr>
          <p:cNvSpPr>
            <a:spLocks noGrp="1"/>
          </p:cNvSpPr>
          <p:nvPr>
            <p:ph type="sldNum" sz="quarter" idx="12"/>
          </p:nvPr>
        </p:nvSpPr>
        <p:spPr/>
        <p:txBody>
          <a:body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3332163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A14A9081-2588-4038-BA83-62897AB7AE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EDF2FACA-D9EA-40CE-85AE-C44182B54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24D0371C-52FA-4ED8-9868-DC7C5F23D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80C48-1AC8-44D2-BC41-C7C1B1A8AA3B}" type="datetimeFigureOut">
              <a:rPr lang="ko-KR" altLang="en-US" smtClean="0"/>
              <a:t>2026-04-13</a:t>
            </a:fld>
            <a:endParaRPr lang="ko-KR" altLang="en-US"/>
          </a:p>
        </p:txBody>
      </p:sp>
      <p:sp>
        <p:nvSpPr>
          <p:cNvPr id="5" name="바닥글 개체 틀 4">
            <a:extLst>
              <a:ext uri="{FF2B5EF4-FFF2-40B4-BE49-F238E27FC236}">
                <a16:creationId xmlns:a16="http://schemas.microsoft.com/office/drawing/2014/main" id="{1EB4E39C-094F-4FBA-9BEA-26088D572A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60811279-E927-457F-A5B4-EB8676E250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9E873-EC5E-49E1-BCBA-80D2230E427F}" type="slidenum">
              <a:rPr lang="ko-KR" altLang="en-US" smtClean="0"/>
              <a:t>‹#›</a:t>
            </a:fld>
            <a:endParaRPr lang="ko-KR" altLang="en-US"/>
          </a:p>
        </p:txBody>
      </p:sp>
    </p:spTree>
    <p:extLst>
      <p:ext uri="{BB962C8B-B14F-4D97-AF65-F5344CB8AC3E}">
        <p14:creationId xmlns:p14="http://schemas.microsoft.com/office/powerpoint/2010/main" val="2549662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3F72FFB3-60F3-4EA3-BE20-427A82A6F57C}"/>
              </a:ext>
            </a:extLst>
          </p:cNvPr>
          <p:cNvPicPr>
            <a:picLocks noChangeAspect="1"/>
          </p:cNvPicPr>
          <p:nvPr/>
        </p:nvPicPr>
        <p:blipFill rotWithShape="1">
          <a:blip r:embed="rId2"/>
          <a:srcRect b="32181"/>
          <a:stretch/>
        </p:blipFill>
        <p:spPr>
          <a:xfrm>
            <a:off x="0" y="830362"/>
            <a:ext cx="5767564" cy="5529996"/>
          </a:xfrm>
          <a:prstGeom prst="rect">
            <a:avLst/>
          </a:prstGeom>
        </p:spPr>
      </p:pic>
      <p:sp>
        <p:nvSpPr>
          <p:cNvPr id="2" name="제목 1">
            <a:extLst>
              <a:ext uri="{FF2B5EF4-FFF2-40B4-BE49-F238E27FC236}">
                <a16:creationId xmlns:a16="http://schemas.microsoft.com/office/drawing/2014/main" id="{47A6449C-CA84-4F3A-8504-DC9A6E4BBA91}"/>
              </a:ext>
            </a:extLst>
          </p:cNvPr>
          <p:cNvSpPr>
            <a:spLocks noGrp="1"/>
          </p:cNvSpPr>
          <p:nvPr>
            <p:ph type="title"/>
          </p:nvPr>
        </p:nvSpPr>
        <p:spPr>
          <a:xfrm>
            <a:off x="0" y="0"/>
            <a:ext cx="2122311" cy="1049867"/>
          </a:xfrm>
        </p:spPr>
        <p:txBody>
          <a:bodyPr>
            <a:normAutofit/>
          </a:bodyPr>
          <a:lstStyle/>
          <a:p>
            <a:r>
              <a:rPr lang="en-US" altLang="ko-KR" sz="2800">
                <a:latin typeface="프리젠테이션 6 SemiBold" pitchFamily="2" charset="-127"/>
                <a:ea typeface="프리젠테이션 6 SemiBold" pitchFamily="2" charset="-127"/>
              </a:rPr>
              <a:t>Main</a:t>
            </a:r>
            <a:endParaRPr lang="ko-KR" altLang="en-US" sz="2800">
              <a:latin typeface="프리젠테이션 6 SemiBold" pitchFamily="2" charset="-127"/>
              <a:ea typeface="프리젠테이션 6 SemiBold" pitchFamily="2" charset="-127"/>
            </a:endParaRPr>
          </a:p>
        </p:txBody>
      </p:sp>
      <p:sp>
        <p:nvSpPr>
          <p:cNvPr id="5" name="제목 1">
            <a:extLst>
              <a:ext uri="{FF2B5EF4-FFF2-40B4-BE49-F238E27FC236}">
                <a16:creationId xmlns:a16="http://schemas.microsoft.com/office/drawing/2014/main" id="{36DA10C2-BADC-4EA3-8980-43309A1494B2}"/>
              </a:ext>
            </a:extLst>
          </p:cNvPr>
          <p:cNvSpPr txBox="1">
            <a:spLocks/>
          </p:cNvSpPr>
          <p:nvPr/>
        </p:nvSpPr>
        <p:spPr>
          <a:xfrm>
            <a:off x="6286501" y="0"/>
            <a:ext cx="3939822" cy="1049867"/>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2800">
                <a:latin typeface="프리젠테이션 6 SemiBold" pitchFamily="2" charset="-127"/>
                <a:ea typeface="프리젠테이션 6 SemiBold" pitchFamily="2" charset="-127"/>
              </a:rPr>
              <a:t>Supplementary</a:t>
            </a:r>
            <a:endParaRPr lang="ko-KR" altLang="en-US" sz="2800">
              <a:latin typeface="프리젠테이션 6 SemiBold" pitchFamily="2" charset="-127"/>
              <a:ea typeface="프리젠테이션 6 SemiBold" pitchFamily="2" charset="-127"/>
            </a:endParaRPr>
          </a:p>
        </p:txBody>
      </p:sp>
      <p:pic>
        <p:nvPicPr>
          <p:cNvPr id="6" name="그림 5">
            <a:extLst>
              <a:ext uri="{FF2B5EF4-FFF2-40B4-BE49-F238E27FC236}">
                <a16:creationId xmlns:a16="http://schemas.microsoft.com/office/drawing/2014/main" id="{2B43A33D-BC34-4CC4-AA9C-71D032B1B565}"/>
              </a:ext>
            </a:extLst>
          </p:cNvPr>
          <p:cNvPicPr>
            <a:picLocks noChangeAspect="1"/>
          </p:cNvPicPr>
          <p:nvPr/>
        </p:nvPicPr>
        <p:blipFill rotWithShape="1">
          <a:blip r:embed="rId3"/>
          <a:srcRect b="50617"/>
          <a:stretch/>
        </p:blipFill>
        <p:spPr>
          <a:xfrm>
            <a:off x="6702118" y="711482"/>
            <a:ext cx="5847887" cy="4083258"/>
          </a:xfrm>
          <a:prstGeom prst="rect">
            <a:avLst/>
          </a:prstGeom>
        </p:spPr>
      </p:pic>
      <p:pic>
        <p:nvPicPr>
          <p:cNvPr id="7" name="그림 6">
            <a:extLst>
              <a:ext uri="{FF2B5EF4-FFF2-40B4-BE49-F238E27FC236}">
                <a16:creationId xmlns:a16="http://schemas.microsoft.com/office/drawing/2014/main" id="{A3728CFA-AE24-4819-A90E-77B95BB7DEBE}"/>
              </a:ext>
            </a:extLst>
          </p:cNvPr>
          <p:cNvPicPr>
            <a:picLocks noChangeAspect="1"/>
          </p:cNvPicPr>
          <p:nvPr/>
        </p:nvPicPr>
        <p:blipFill rotWithShape="1">
          <a:blip r:embed="rId3"/>
          <a:srcRect t="56708"/>
          <a:stretch/>
        </p:blipFill>
        <p:spPr>
          <a:xfrm>
            <a:off x="7188867" y="4873929"/>
            <a:ext cx="4856596" cy="2972858"/>
          </a:xfrm>
          <a:prstGeom prst="rect">
            <a:avLst/>
          </a:prstGeom>
        </p:spPr>
      </p:pic>
    </p:spTree>
    <p:extLst>
      <p:ext uri="{BB962C8B-B14F-4D97-AF65-F5344CB8AC3E}">
        <p14:creationId xmlns:p14="http://schemas.microsoft.com/office/powerpoint/2010/main" val="2548103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720EB1-AC36-4E00-9A83-BE7B9F84EF5B}"/>
              </a:ext>
            </a:extLst>
          </p:cNvPr>
          <p:cNvSpPr>
            <a:spLocks noGrp="1"/>
          </p:cNvSpPr>
          <p:nvPr>
            <p:ph type="ctrTitle"/>
          </p:nvPr>
        </p:nvSpPr>
        <p:spPr/>
        <p:txBody>
          <a:bodyPr>
            <a:normAutofit/>
          </a:bodyPr>
          <a:lstStyle/>
          <a:p>
            <a:r>
              <a:rPr lang="en-US" altLang="ko-KR" sz="4000">
                <a:latin typeface="프리젠테이션 6 SemiBold" pitchFamily="2" charset="-127"/>
                <a:ea typeface="프리젠테이션 6 SemiBold" pitchFamily="2" charset="-127"/>
              </a:rPr>
              <a:t>Method Details</a:t>
            </a:r>
            <a:endParaRPr lang="ko-KR" altLang="en-US" sz="4000">
              <a:latin typeface="프리젠테이션 6 SemiBold" pitchFamily="2" charset="-127"/>
              <a:ea typeface="프리젠테이션 6 SemiBold" pitchFamily="2" charset="-127"/>
            </a:endParaRPr>
          </a:p>
        </p:txBody>
      </p:sp>
    </p:spTree>
    <p:extLst>
      <p:ext uri="{BB962C8B-B14F-4D97-AF65-F5344CB8AC3E}">
        <p14:creationId xmlns:p14="http://schemas.microsoft.com/office/powerpoint/2010/main" val="4038069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A6449C-CA84-4F3A-8504-DC9A6E4BBA91}"/>
              </a:ext>
            </a:extLst>
          </p:cNvPr>
          <p:cNvSpPr>
            <a:spLocks noGrp="1"/>
          </p:cNvSpPr>
          <p:nvPr>
            <p:ph type="title"/>
          </p:nvPr>
        </p:nvSpPr>
        <p:spPr>
          <a:xfrm>
            <a:off x="0" y="-279699"/>
            <a:ext cx="9740900" cy="1049867"/>
          </a:xfrm>
        </p:spPr>
        <p:txBody>
          <a:bodyPr>
            <a:normAutofit/>
          </a:bodyPr>
          <a:lstStyle/>
          <a:p>
            <a:br>
              <a:rPr lang="en-US" altLang="ko-KR" sz="2800">
                <a:latin typeface="프리젠테이션 6 SemiBold" pitchFamily="2" charset="-127"/>
                <a:ea typeface="프리젠테이션 6 SemiBold" pitchFamily="2" charset="-127"/>
              </a:rPr>
            </a:br>
            <a:r>
              <a:rPr lang="en-US" altLang="ko-KR" sz="2800">
                <a:latin typeface="프리젠테이션 6 SemiBold" pitchFamily="2" charset="-127"/>
                <a:ea typeface="프리젠테이션 6 SemiBold" pitchFamily="2" charset="-127"/>
              </a:rPr>
              <a:t>1. Partial Least Squares Regression</a:t>
            </a:r>
            <a:endParaRPr lang="ko-KR" altLang="en-US" sz="2800">
              <a:latin typeface="프리젠테이션 6 SemiBold" pitchFamily="2" charset="-127"/>
              <a:ea typeface="프리젠테이션 6 SemiBold" pitchFamily="2" charset="-127"/>
            </a:endParaRPr>
          </a:p>
        </p:txBody>
      </p:sp>
      <p:sp>
        <p:nvSpPr>
          <p:cNvPr id="3" name="TextBox 2">
            <a:extLst>
              <a:ext uri="{FF2B5EF4-FFF2-40B4-BE49-F238E27FC236}">
                <a16:creationId xmlns:a16="http://schemas.microsoft.com/office/drawing/2014/main" id="{9AC275BD-C803-4042-9D5F-268D5774F02C}"/>
              </a:ext>
            </a:extLst>
          </p:cNvPr>
          <p:cNvSpPr txBox="1"/>
          <p:nvPr/>
        </p:nvSpPr>
        <p:spPr>
          <a:xfrm>
            <a:off x="322729" y="651037"/>
            <a:ext cx="11869271" cy="231448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ko-KR" sz="1400" b="1">
                <a:latin typeface="Microsoft JhengHei" panose="020B0604030504040204" pitchFamily="34" charset="-120"/>
                <a:ea typeface="Microsoft JhengHei" panose="020B0604030504040204" pitchFamily="34" charset="-120"/>
              </a:rPr>
              <a:t>PAN% </a:t>
            </a:r>
            <a:r>
              <a:rPr lang="ko-KR" altLang="en-US" sz="1400" b="1">
                <a:latin typeface="Microsoft JhengHei" panose="020B0604030504040204" pitchFamily="34" charset="-120"/>
              </a:rPr>
              <a:t>면역세포의 패턴으로 </a:t>
            </a:r>
            <a:r>
              <a:rPr lang="en-US" altLang="ko-KR" sz="1400" b="1">
                <a:latin typeface="Microsoft JhengHei" panose="020B0604030504040204" pitchFamily="34" charset="-120"/>
                <a:ea typeface="Microsoft JhengHei" panose="020B0604030504040204" pitchFamily="34" charset="-120"/>
              </a:rPr>
              <a:t>Age</a:t>
            </a:r>
            <a:r>
              <a:rPr lang="ko-KR" altLang="en-US" sz="1400" b="1">
                <a:latin typeface="Microsoft JhengHei" panose="020B0604030504040204" pitchFamily="34" charset="-120"/>
              </a:rPr>
              <a:t>를 설명하기 위해 공변량 보정 후 </a:t>
            </a:r>
            <a:r>
              <a:rPr lang="en-US" altLang="ko-KR" sz="1400" b="1">
                <a:latin typeface="Microsoft JhengHei" panose="020B0604030504040204" pitchFamily="34" charset="-120"/>
                <a:ea typeface="Microsoft JhengHei" panose="020B0604030504040204" pitchFamily="34" charset="-120"/>
              </a:rPr>
              <a:t>1-component PLSR</a:t>
            </a:r>
            <a:r>
              <a:rPr lang="ko-KR" altLang="en-US" sz="1400" b="1">
                <a:latin typeface="Microsoft JhengHei" panose="020B0604030504040204" pitchFamily="34" charset="-120"/>
              </a:rPr>
              <a:t>을 수행</a:t>
            </a:r>
            <a:endParaRPr lang="en-US" altLang="ko-KR" sz="1400" b="1">
              <a:latin typeface="Microsoft JhengHei" panose="020B0604030504040204" pitchFamily="34" charset="-120"/>
              <a:ea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b="1">
                <a:latin typeface="Microsoft JhengHei" panose="020B0604030504040204" pitchFamily="34" charset="-120"/>
              </a:rPr>
              <a:t>모델 성능 검증</a:t>
            </a:r>
            <a:r>
              <a:rPr lang="en-US" altLang="ko-KR" sz="1400">
                <a:latin typeface="Microsoft JhengHei" panose="020B0604030504040204" pitchFamily="34" charset="-120"/>
                <a:ea typeface="Microsoft JhengHei" panose="020B0604030504040204" pitchFamily="34" charset="-120"/>
              </a:rPr>
              <a:t>: </a:t>
            </a:r>
            <a:r>
              <a:rPr lang="en-US" altLang="ko-KR" sz="1400" u="sng">
                <a:latin typeface="Microsoft JhengHei" panose="020B0604030504040204" pitchFamily="34" charset="-120"/>
                <a:ea typeface="Microsoft JhengHei" panose="020B0604030504040204" pitchFamily="34" charset="-120"/>
              </a:rPr>
              <a:t>cross-validation (5-fold) </a:t>
            </a:r>
            <a:r>
              <a:rPr lang="ko-KR" altLang="en-US" sz="1400" u="sng">
                <a:latin typeface="Microsoft JhengHei" panose="020B0604030504040204" pitchFamily="34" charset="-120"/>
                <a:ea typeface="Microsoft JhengHei" panose="020B0604030504040204" pitchFamily="34" charset="-120"/>
              </a:rPr>
              <a:t>기반 </a:t>
            </a:r>
            <a:r>
              <a:rPr lang="en-US" altLang="ko-KR" sz="1400" u="sng">
                <a:latin typeface="Microsoft JhengHei" panose="020B0604030504040204" pitchFamily="34" charset="-120"/>
                <a:ea typeface="Microsoft JhengHei" panose="020B0604030504040204" pitchFamily="34" charset="-120"/>
              </a:rPr>
              <a:t>Q2 </a:t>
            </a:r>
            <a:r>
              <a:rPr lang="en-US" altLang="ko-KR" sz="1400">
                <a:latin typeface="Microsoft JhengHei" panose="020B0604030504040204" pitchFamily="34" charset="-120"/>
                <a:ea typeface="Microsoft JhengHei" panose="020B0604030504040204" pitchFamily="34" charset="-120"/>
              </a:rPr>
              <a:t>(Q2&gt;0</a:t>
            </a:r>
            <a:r>
              <a:rPr lang="ko-KR" altLang="en-US" sz="1400">
                <a:latin typeface="Microsoft JhengHei" panose="020B0604030504040204" pitchFamily="34" charset="-120"/>
                <a:ea typeface="Microsoft JhengHei" panose="020B0604030504040204" pitchFamily="34" charset="-120"/>
              </a:rPr>
              <a:t>일때 예측력이 있다고 봄</a:t>
            </a:r>
            <a:r>
              <a:rPr lang="en-US" altLang="ko-KR" sz="1400">
                <a:latin typeface="Microsoft JhengHei" panose="020B0604030504040204" pitchFamily="34" charset="-120"/>
                <a:ea typeface="Microsoft JhengHei" panose="020B0604030504040204" pitchFamily="34" charset="-120"/>
              </a:rPr>
              <a:t>) </a:t>
            </a:r>
            <a:r>
              <a:rPr lang="ko-KR" altLang="en-US" sz="1400">
                <a:latin typeface="Microsoft JhengHei" panose="020B0604030504040204" pitchFamily="34" charset="-120"/>
                <a:ea typeface="Microsoft JhengHei" panose="020B0604030504040204" pitchFamily="34" charset="-120"/>
              </a:rPr>
              <a:t>전체 데이터를 </a:t>
            </a:r>
            <a:r>
              <a:rPr lang="en-US" altLang="ko-KR" sz="1400">
                <a:latin typeface="Microsoft JhengHei" panose="020B0604030504040204" pitchFamily="34" charset="-120"/>
                <a:ea typeface="Microsoft JhengHei" panose="020B0604030504040204" pitchFamily="34" charset="-120"/>
              </a:rPr>
              <a:t>5</a:t>
            </a:r>
            <a:r>
              <a:rPr lang="ko-KR" altLang="en-US" sz="1400">
                <a:latin typeface="Microsoft JhengHei" panose="020B0604030504040204" pitchFamily="34" charset="-120"/>
                <a:ea typeface="Microsoft JhengHei" panose="020B0604030504040204" pitchFamily="34" charset="-120"/>
              </a:rPr>
              <a:t>개 </a:t>
            </a:r>
            <a:r>
              <a:rPr lang="en-US" altLang="ko-KR" sz="1400">
                <a:latin typeface="Microsoft JhengHei" panose="020B0604030504040204" pitchFamily="34" charset="-120"/>
                <a:ea typeface="Microsoft JhengHei" panose="020B0604030504040204" pitchFamily="34" charset="-120"/>
              </a:rPr>
              <a:t>fold</a:t>
            </a:r>
            <a:r>
              <a:rPr lang="ko-KR" altLang="en-US" sz="1400">
                <a:latin typeface="Microsoft JhengHei" panose="020B0604030504040204" pitchFamily="34" charset="-120"/>
                <a:ea typeface="Microsoft JhengHei" panose="020B0604030504040204" pitchFamily="34" charset="-120"/>
              </a:rPr>
              <a:t>로 나누고</a:t>
            </a:r>
            <a:r>
              <a:rPr lang="en-US" altLang="ko-KR" sz="1400">
                <a:latin typeface="Microsoft JhengHei" panose="020B0604030504040204" pitchFamily="34" charset="-120"/>
                <a:ea typeface="Microsoft JhengHei" panose="020B0604030504040204" pitchFamily="34" charset="-120"/>
              </a:rPr>
              <a:t>, 4</a:t>
            </a:r>
            <a:r>
              <a:rPr lang="ko-KR" altLang="en-US" sz="1400">
                <a:latin typeface="Microsoft JhengHei" panose="020B0604030504040204" pitchFamily="34" charset="-120"/>
                <a:ea typeface="Microsoft JhengHei" panose="020B0604030504040204" pitchFamily="34" charset="-120"/>
              </a:rPr>
              <a:t>개는 학습용</a:t>
            </a:r>
            <a:r>
              <a:rPr lang="en-US" altLang="ko-KR" sz="1400">
                <a:latin typeface="Microsoft JhengHei" panose="020B0604030504040204" pitchFamily="34" charset="-120"/>
                <a:ea typeface="Microsoft JhengHei" panose="020B0604030504040204" pitchFamily="34" charset="-120"/>
              </a:rPr>
              <a:t>, 1</a:t>
            </a:r>
            <a:r>
              <a:rPr lang="ko-KR" altLang="en-US" sz="1400">
                <a:latin typeface="Microsoft JhengHei" panose="020B0604030504040204" pitchFamily="34" charset="-120"/>
                <a:ea typeface="Microsoft JhengHei" panose="020B0604030504040204" pitchFamily="34" charset="-120"/>
              </a:rPr>
              <a:t>개는 검증용으로 번갈아 사용하여 모델이 새로운 데이터에서도 얼마나 안정적으로 예측되는지 평가</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b="1">
                <a:latin typeface="Microsoft JhengHei" panose="020B0604030504040204" pitchFamily="34" charset="-120"/>
              </a:rPr>
              <a:t>통계적 유의성 평가</a:t>
            </a:r>
            <a:r>
              <a:rPr lang="en-US" altLang="ko-KR" sz="1400">
                <a:latin typeface="Microsoft JhengHei" panose="020B0604030504040204" pitchFamily="34" charset="-120"/>
                <a:ea typeface="Microsoft JhengHei" panose="020B0604030504040204" pitchFamily="34" charset="-120"/>
              </a:rPr>
              <a:t>: </a:t>
            </a:r>
            <a:r>
              <a:rPr lang="en-US" altLang="ko-KR" sz="1400" u="sng">
                <a:latin typeface="Microsoft JhengHei" panose="020B0604030504040204" pitchFamily="34" charset="-120"/>
                <a:ea typeface="Microsoft JhengHei" panose="020B0604030504040204" pitchFamily="34" charset="-120"/>
              </a:rPr>
              <a:t>permutation test (perm = 2000), </a:t>
            </a:r>
            <a:r>
              <a:rPr lang="en-US" altLang="ko-KR" sz="1400">
                <a:latin typeface="Microsoft JhengHei" panose="020B0604030504040204" pitchFamily="34" charset="-120"/>
                <a:ea typeface="Microsoft JhengHei" panose="020B0604030504040204" pitchFamily="34" charset="-120"/>
              </a:rPr>
              <a:t>Age </a:t>
            </a:r>
            <a:r>
              <a:rPr lang="ko-KR" altLang="en-US" sz="1400">
                <a:latin typeface="Microsoft JhengHei" panose="020B0604030504040204" pitchFamily="34" charset="-120"/>
                <a:ea typeface="Microsoft JhengHei" panose="020B0604030504040204" pitchFamily="34" charset="-120"/>
              </a:rPr>
              <a:t>값을 </a:t>
            </a:r>
            <a:r>
              <a:rPr lang="en-US" altLang="ko-KR" sz="1400">
                <a:latin typeface="Microsoft JhengHei" panose="020B0604030504040204" pitchFamily="34" charset="-120"/>
                <a:ea typeface="Microsoft JhengHei" panose="020B0604030504040204" pitchFamily="34" charset="-120"/>
              </a:rPr>
              <a:t>2,000</a:t>
            </a:r>
            <a:r>
              <a:rPr lang="ko-KR" altLang="en-US" sz="1400">
                <a:latin typeface="Microsoft JhengHei" panose="020B0604030504040204" pitchFamily="34" charset="-120"/>
                <a:ea typeface="Microsoft JhengHei" panose="020B0604030504040204" pitchFamily="34" charset="-120"/>
              </a:rPr>
              <a:t>번 무작위로 섞어 같은 분석을 반복한 뒤</a:t>
            </a:r>
            <a:r>
              <a:rPr lang="en-US" altLang="ko-KR" sz="1400">
                <a:latin typeface="Microsoft JhengHei" panose="020B0604030504040204" pitchFamily="34" charset="-120"/>
                <a:ea typeface="Microsoft JhengHei" panose="020B0604030504040204" pitchFamily="34" charset="-120"/>
              </a:rPr>
              <a:t>, </a:t>
            </a:r>
            <a:r>
              <a:rPr lang="ko-KR" altLang="en-US" sz="1400">
                <a:latin typeface="Microsoft JhengHei" panose="020B0604030504040204" pitchFamily="34" charset="-120"/>
                <a:ea typeface="Microsoft JhengHei" panose="020B0604030504040204" pitchFamily="34" charset="-120"/>
              </a:rPr>
              <a:t>실제 데이터에서 얻은 </a:t>
            </a:r>
            <a:r>
              <a:rPr lang="en-US" altLang="ko-KR" sz="1400">
                <a:latin typeface="Microsoft JhengHei" panose="020B0604030504040204" pitchFamily="34" charset="-120"/>
                <a:ea typeface="Microsoft JhengHei" panose="020B0604030504040204" pitchFamily="34" charset="-120"/>
              </a:rPr>
              <a:t>Q²CV</a:t>
            </a:r>
            <a:r>
              <a:rPr lang="ko-KR" altLang="en-US" sz="1400">
                <a:latin typeface="Microsoft JhengHei" panose="020B0604030504040204" pitchFamily="34" charset="-120"/>
                <a:ea typeface="Microsoft JhengHei" panose="020B0604030504040204" pitchFamily="34" charset="-120"/>
              </a:rPr>
              <a:t>가 우연히도 그 정도 이상 나올 확률을 계산</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50000"/>
              </a:lnSpc>
              <a:buFont typeface="Arial" panose="020B0604020202020204" pitchFamily="34" charset="0"/>
              <a:buChar char="•"/>
            </a:pPr>
            <a:r>
              <a:rPr lang="en-US" altLang="ko-KR" sz="1400" b="1">
                <a:latin typeface="Microsoft JhengHei" panose="020B0604030504040204" pitchFamily="34" charset="-120"/>
                <a:ea typeface="Microsoft JhengHei" panose="020B0604030504040204" pitchFamily="34" charset="-120"/>
              </a:rPr>
              <a:t>KUMC, AMC </a:t>
            </a:r>
            <a:r>
              <a:rPr lang="ko-KR" altLang="en-US" sz="1400" b="1">
                <a:latin typeface="Microsoft JhengHei" panose="020B0604030504040204" pitchFamily="34" charset="-120"/>
              </a:rPr>
              <a:t>의 </a:t>
            </a:r>
            <a:r>
              <a:rPr lang="ko-KR" altLang="en-US" sz="1400" b="1">
                <a:latin typeface="Microsoft JhengHei" panose="020B0604030504040204" pitchFamily="34" charset="-120"/>
                <a:ea typeface="Microsoft JhengHei" panose="020B0604030504040204" pitchFamily="34" charset="-120"/>
              </a:rPr>
              <a:t>다중 검정</a:t>
            </a:r>
            <a:r>
              <a:rPr lang="en-US" altLang="ko-KR" sz="1400" b="1">
                <a:latin typeface="Microsoft JhengHei" panose="020B0604030504040204" pitchFamily="34" charset="-120"/>
                <a:ea typeface="Microsoft JhengHei" panose="020B0604030504040204" pitchFamily="34" charset="-120"/>
              </a:rPr>
              <a:t> </a:t>
            </a:r>
            <a:r>
              <a:rPr lang="ko-KR" altLang="en-US" sz="1400" b="1">
                <a:latin typeface="Microsoft JhengHei" panose="020B0604030504040204" pitchFamily="34" charset="-120"/>
              </a:rPr>
              <a:t>보정</a:t>
            </a:r>
            <a:r>
              <a:rPr lang="en-US" altLang="ko-KR" sz="1400">
                <a:latin typeface="Microsoft JhengHei" panose="020B0604030504040204" pitchFamily="34" charset="-120"/>
                <a:ea typeface="Microsoft JhengHei" panose="020B0604030504040204" pitchFamily="34" charset="-120"/>
              </a:rPr>
              <a:t>: multipletests (pvals_for_fdr, method="fdr_bh"), </a:t>
            </a:r>
            <a:r>
              <a:rPr lang="en-US" altLang="ko-KR" sz="1400" b="1" u="sng">
                <a:latin typeface="Microsoft JhengHei" panose="020B0604030504040204" pitchFamily="34" charset="-120"/>
                <a:ea typeface="Microsoft JhengHei" panose="020B0604030504040204" pitchFamily="34" charset="-120"/>
              </a:rPr>
              <a:t>Benjamini–Hochberg FDR correction</a:t>
            </a:r>
          </a:p>
          <a:p>
            <a:pPr marL="285750" indent="-285750">
              <a:lnSpc>
                <a:spcPct val="150000"/>
              </a:lnSpc>
              <a:buFont typeface="Arial" panose="020B0604020202020204" pitchFamily="34" charset="0"/>
              <a:buChar char="•"/>
            </a:pPr>
            <a:r>
              <a:rPr lang="ko-KR" altLang="en-US" sz="1400" b="1">
                <a:latin typeface="Microsoft JhengHei" panose="020B0604030504040204" pitchFamily="34" charset="-120"/>
                <a:ea typeface="Microsoft JhengHei" panose="020B0604030504040204" pitchFamily="34" charset="-120"/>
              </a:rPr>
              <a:t>공변량 보정</a:t>
            </a:r>
            <a:r>
              <a:rPr lang="en-US" altLang="ko-KR" sz="1400">
                <a:latin typeface="Microsoft JhengHei" panose="020B0604030504040204" pitchFamily="34" charset="-120"/>
                <a:ea typeface="Microsoft JhengHei" panose="020B0604030504040204" pitchFamily="34" charset="-120"/>
              </a:rPr>
              <a:t>: PAN </a:t>
            </a:r>
            <a:r>
              <a:rPr lang="ko-KR" altLang="en-US" sz="1400">
                <a:latin typeface="Microsoft JhengHei" panose="020B0604030504040204" pitchFamily="34" charset="-120"/>
                <a:ea typeface="Microsoft JhengHei" panose="020B0604030504040204" pitchFamily="34" charset="-120"/>
              </a:rPr>
              <a:t>전체 </a:t>
            </a:r>
            <a:r>
              <a:rPr lang="en-US" altLang="ko-KR" sz="1400">
                <a:latin typeface="Microsoft JhengHei" panose="020B0604030504040204" pitchFamily="34" charset="-120"/>
                <a:ea typeface="Microsoft JhengHei" panose="020B0604030504040204" pitchFamily="34" charset="-120"/>
              </a:rPr>
              <a:t>predictor</a:t>
            </a:r>
            <a:r>
              <a:rPr lang="ko-KR" altLang="en-US" sz="1400">
                <a:latin typeface="Microsoft JhengHei" panose="020B0604030504040204" pitchFamily="34" charset="-120"/>
                <a:ea typeface="Microsoft JhengHei" panose="020B0604030504040204" pitchFamily="34" charset="-120"/>
              </a:rPr>
              <a:t>와 </a:t>
            </a:r>
            <a:r>
              <a:rPr lang="en-US" altLang="ko-KR" sz="1400">
                <a:latin typeface="Microsoft JhengHei" panose="020B0604030504040204" pitchFamily="34" charset="-120"/>
                <a:ea typeface="Microsoft JhengHei" panose="020B0604030504040204" pitchFamily="34" charset="-120"/>
              </a:rPr>
              <a:t>Age </a:t>
            </a:r>
            <a:r>
              <a:rPr lang="ko-KR" altLang="en-US" sz="1400">
                <a:latin typeface="Microsoft JhengHei" panose="020B0604030504040204" pitchFamily="34" charset="-120"/>
                <a:ea typeface="Microsoft JhengHei" panose="020B0604030504040204" pitchFamily="34" charset="-120"/>
              </a:rPr>
              <a:t>전체에 </a:t>
            </a:r>
            <a:r>
              <a:rPr lang="en-US" altLang="ko-KR" sz="1400" u="sng">
                <a:latin typeface="Microsoft JhengHei" panose="020B0604030504040204" pitchFamily="34" charset="-120"/>
                <a:ea typeface="Microsoft JhengHei" panose="020B0604030504040204" pitchFamily="34" charset="-120"/>
              </a:rPr>
              <a:t>Sex,</a:t>
            </a:r>
            <a:r>
              <a:rPr lang="ko-KR" altLang="en-US" sz="1400" u="sng">
                <a:latin typeface="Microsoft JhengHei" panose="020B0604030504040204" pitchFamily="34" charset="-120"/>
              </a:rPr>
              <a:t> </a:t>
            </a:r>
            <a:r>
              <a:rPr lang="en-US" altLang="ko-KR" sz="1400" u="sng">
                <a:latin typeface="Microsoft JhengHei" panose="020B0604030504040204" pitchFamily="34" charset="-120"/>
                <a:ea typeface="Microsoft JhengHei" panose="020B0604030504040204" pitchFamily="34" charset="-120"/>
              </a:rPr>
              <a:t>BMI</a:t>
            </a:r>
            <a:r>
              <a:rPr lang="ko-KR" altLang="en-US" sz="1400" u="sng">
                <a:latin typeface="Microsoft JhengHei" panose="020B0604030504040204" pitchFamily="34" charset="-120"/>
              </a:rPr>
              <a:t> 공변량 보정</a:t>
            </a:r>
            <a:endParaRPr lang="en-US" altLang="ko-KR" sz="1400">
              <a:latin typeface="Microsoft JhengHei" panose="020B0604030504040204" pitchFamily="34" charset="-120"/>
              <a:ea typeface="Microsoft JhengHei" panose="020B0604030504040204" pitchFamily="34" charset="-120"/>
            </a:endParaRPr>
          </a:p>
        </p:txBody>
      </p:sp>
      <p:pic>
        <p:nvPicPr>
          <p:cNvPr id="5" name="그림 4">
            <a:extLst>
              <a:ext uri="{FF2B5EF4-FFF2-40B4-BE49-F238E27FC236}">
                <a16:creationId xmlns:a16="http://schemas.microsoft.com/office/drawing/2014/main" id="{E9FAD590-93CF-4552-A8AF-CA3A1479070F}"/>
              </a:ext>
            </a:extLst>
          </p:cNvPr>
          <p:cNvPicPr>
            <a:picLocks noChangeAspect="1"/>
          </p:cNvPicPr>
          <p:nvPr/>
        </p:nvPicPr>
        <p:blipFill>
          <a:blip r:embed="rId3"/>
          <a:stretch>
            <a:fillRect/>
          </a:stretch>
        </p:blipFill>
        <p:spPr>
          <a:xfrm>
            <a:off x="2238464" y="3057248"/>
            <a:ext cx="2829912" cy="2361353"/>
          </a:xfrm>
          <a:prstGeom prst="rect">
            <a:avLst/>
          </a:prstGeom>
          <a:ln>
            <a:solidFill>
              <a:schemeClr val="tx1"/>
            </a:solidFill>
          </a:ln>
        </p:spPr>
      </p:pic>
      <p:pic>
        <p:nvPicPr>
          <p:cNvPr id="7" name="그림 6">
            <a:extLst>
              <a:ext uri="{FF2B5EF4-FFF2-40B4-BE49-F238E27FC236}">
                <a16:creationId xmlns:a16="http://schemas.microsoft.com/office/drawing/2014/main" id="{88A9D9FF-FEFD-4200-AF5B-65CBAD8FBF34}"/>
              </a:ext>
            </a:extLst>
          </p:cNvPr>
          <p:cNvPicPr>
            <a:picLocks noChangeAspect="1"/>
          </p:cNvPicPr>
          <p:nvPr/>
        </p:nvPicPr>
        <p:blipFill>
          <a:blip r:embed="rId4"/>
          <a:stretch>
            <a:fillRect/>
          </a:stretch>
        </p:blipFill>
        <p:spPr>
          <a:xfrm>
            <a:off x="7270400" y="3037194"/>
            <a:ext cx="2917092" cy="2381408"/>
          </a:xfrm>
          <a:prstGeom prst="rect">
            <a:avLst/>
          </a:prstGeom>
          <a:ln>
            <a:solidFill>
              <a:schemeClr val="tx1"/>
            </a:solidFill>
          </a:ln>
        </p:spPr>
      </p:pic>
      <p:sp>
        <p:nvSpPr>
          <p:cNvPr id="6" name="TextBox 5">
            <a:extLst>
              <a:ext uri="{FF2B5EF4-FFF2-40B4-BE49-F238E27FC236}">
                <a16:creationId xmlns:a16="http://schemas.microsoft.com/office/drawing/2014/main" id="{776ECBA1-8AAE-4620-A61F-17C87BFD3413}"/>
              </a:ext>
            </a:extLst>
          </p:cNvPr>
          <p:cNvSpPr txBox="1"/>
          <p:nvPr/>
        </p:nvSpPr>
        <p:spPr>
          <a:xfrm>
            <a:off x="361727" y="5254877"/>
            <a:ext cx="5489719" cy="1546449"/>
          </a:xfrm>
          <a:prstGeom prst="rect">
            <a:avLst/>
          </a:prstGeom>
          <a:noFill/>
        </p:spPr>
        <p:txBody>
          <a:bodyPr wrap="square" rtlCol="0">
            <a:spAutoFit/>
          </a:bodyPr>
          <a:lstStyle/>
          <a:p>
            <a:pPr marL="285750" indent="-285750">
              <a:lnSpc>
                <a:spcPct val="114000"/>
              </a:lnSpc>
              <a:buFont typeface="Arial" panose="020B0604020202020204" pitchFamily="34" charset="0"/>
              <a:buChar char="•"/>
            </a:pPr>
            <a:r>
              <a:rPr lang="ko-KR" altLang="en-US" sz="1400">
                <a:latin typeface="Microsoft JhengHei" panose="020B0604030504040204" pitchFamily="34" charset="-120"/>
              </a:rPr>
              <a:t>각점</a:t>
            </a:r>
            <a:r>
              <a:rPr lang="en-US" altLang="ko-KR" sz="1400">
                <a:latin typeface="Microsoft JhengHei" panose="020B0604030504040204" pitchFamily="34" charset="-120"/>
                <a:ea typeface="Microsoft JhengHei" panose="020B0604030504040204" pitchFamily="34" charset="-120"/>
              </a:rPr>
              <a:t>: </a:t>
            </a:r>
            <a:r>
              <a:rPr lang="ko-KR" altLang="en-US" sz="1400">
                <a:latin typeface="Microsoft JhengHei" panose="020B0604030504040204" pitchFamily="34" charset="-120"/>
              </a:rPr>
              <a:t>한 샘플</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14000"/>
              </a:lnSpc>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X label: </a:t>
            </a:r>
            <a:r>
              <a:rPr lang="ko-KR" altLang="en-US" sz="1400">
                <a:latin typeface="Microsoft JhengHei" panose="020B0604030504040204" pitchFamily="34" charset="-120"/>
                <a:ea typeface="Microsoft JhengHei" panose="020B0604030504040204" pitchFamily="34" charset="-120"/>
              </a:rPr>
              <a:t>공변량 제거 후 </a:t>
            </a:r>
            <a:r>
              <a:rPr lang="ko-KR" altLang="en-US" sz="1400">
                <a:latin typeface="Microsoft JhengHei" panose="020B0604030504040204" pitchFamily="34" charset="-120"/>
              </a:rPr>
              <a:t>실제 데이터 </a:t>
            </a:r>
            <a:r>
              <a:rPr lang="en-US" altLang="ko-KR" sz="1400">
                <a:latin typeface="Microsoft JhengHei" panose="020B0604030504040204" pitchFamily="34" charset="-120"/>
                <a:ea typeface="Microsoft JhengHei" panose="020B0604030504040204" pitchFamily="34" charset="-120"/>
              </a:rPr>
              <a:t>(Age) </a:t>
            </a:r>
          </a:p>
          <a:p>
            <a:pPr marL="285750" indent="-285750">
              <a:lnSpc>
                <a:spcPct val="114000"/>
              </a:lnSpc>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Y label: </a:t>
            </a:r>
            <a:r>
              <a:rPr lang="ko-KR" altLang="en-US" sz="1400">
                <a:latin typeface="Microsoft JhengHei" panose="020B0604030504040204" pitchFamily="34" charset="-120"/>
                <a:ea typeface="Microsoft JhengHei" panose="020B0604030504040204" pitchFamily="34" charset="-120"/>
              </a:rPr>
              <a:t>공변량 제거 후 </a:t>
            </a:r>
            <a:r>
              <a:rPr lang="en-US" altLang="ko-KR" sz="1400">
                <a:latin typeface="Microsoft JhengHei" panose="020B0604030504040204" pitchFamily="34" charset="-120"/>
                <a:ea typeface="Microsoft JhengHei" panose="020B0604030504040204" pitchFamily="34" charset="-120"/>
              </a:rPr>
              <a:t> plsr</a:t>
            </a:r>
            <a:r>
              <a:rPr lang="ko-KR" altLang="en-US" sz="1400">
                <a:latin typeface="Microsoft JhengHei" panose="020B0604030504040204" pitchFamily="34" charset="-120"/>
              </a:rPr>
              <a:t>의 </a:t>
            </a:r>
            <a:r>
              <a:rPr lang="en-US" altLang="ko-KR" sz="1400">
                <a:latin typeface="Microsoft JhengHei" panose="020B0604030504040204" pitchFamily="34" charset="-120"/>
                <a:ea typeface="Microsoft JhengHei" panose="020B0604030504040204" pitchFamily="34" charset="-120"/>
              </a:rPr>
              <a:t>Age </a:t>
            </a:r>
            <a:r>
              <a:rPr lang="ko-KR" altLang="en-US" sz="1400">
                <a:latin typeface="Microsoft JhengHei" panose="020B0604030504040204" pitchFamily="34" charset="-120"/>
              </a:rPr>
              <a:t>예측 결과</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14000"/>
              </a:lnSpc>
              <a:buFont typeface="Arial" panose="020B0604020202020204" pitchFamily="34" charset="0"/>
              <a:buChar char="•"/>
            </a:pPr>
            <a:r>
              <a:rPr lang="ko-KR" altLang="en-US" sz="1400">
                <a:latin typeface="Microsoft JhengHei" panose="020B0604030504040204" pitchFamily="34" charset="-120"/>
              </a:rPr>
              <a:t>선</a:t>
            </a:r>
            <a:r>
              <a:rPr lang="en-US" altLang="ko-KR" sz="1400">
                <a:latin typeface="Microsoft JhengHei" panose="020B0604030504040204" pitchFamily="34" charset="-120"/>
                <a:ea typeface="Microsoft JhengHei" panose="020B0604030504040204" pitchFamily="34" charset="-120"/>
              </a:rPr>
              <a:t>: observed </a:t>
            </a:r>
            <a:r>
              <a:rPr lang="ko-KR" altLang="en-US" sz="1400">
                <a:latin typeface="Microsoft JhengHei" panose="020B0604030504040204" pitchFamily="34" charset="-120"/>
              </a:rPr>
              <a:t>값과 </a:t>
            </a:r>
            <a:r>
              <a:rPr lang="en-US" altLang="ko-KR" sz="1400">
                <a:latin typeface="Microsoft JhengHei" panose="020B0604030504040204" pitchFamily="34" charset="-120"/>
                <a:ea typeface="Microsoft JhengHei" panose="020B0604030504040204" pitchFamily="34" charset="-120"/>
              </a:rPr>
              <a:t>predicted </a:t>
            </a:r>
            <a:r>
              <a:rPr lang="ko-KR" altLang="en-US" sz="1400">
                <a:latin typeface="Microsoft JhengHei" panose="020B0604030504040204" pitchFamily="34" charset="-120"/>
              </a:rPr>
              <a:t>값 사이 </a:t>
            </a:r>
            <a:r>
              <a:rPr lang="en-US" altLang="ko-KR" sz="1400">
                <a:latin typeface="Microsoft JhengHei" panose="020B0604030504040204" pitchFamily="34" charset="-120"/>
                <a:ea typeface="Microsoft JhengHei" panose="020B0604030504040204" pitchFamily="34" charset="-120"/>
              </a:rPr>
              <a:t>regression</a:t>
            </a:r>
            <a:r>
              <a:rPr lang="ko-KR" altLang="en-US" sz="1400">
                <a:latin typeface="Microsoft JhengHei" panose="020B0604030504040204" pitchFamily="34" charset="-120"/>
              </a:rPr>
              <a:t>선</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14000"/>
              </a:lnSpc>
              <a:buFont typeface="Arial" panose="020B0604020202020204" pitchFamily="34" charset="0"/>
              <a:buChar char="•"/>
            </a:pPr>
            <a:r>
              <a:rPr lang="ko-KR" altLang="en-US" sz="1400">
                <a:latin typeface="Microsoft JhengHei" panose="020B0604030504040204" pitchFamily="34" charset="-120"/>
              </a:rPr>
              <a:t>그라데이션 </a:t>
            </a:r>
            <a:r>
              <a:rPr lang="en-US" altLang="ko-KR" sz="1400">
                <a:latin typeface="Microsoft JhengHei" panose="020B0604030504040204" pitchFamily="34" charset="-120"/>
                <a:ea typeface="Microsoft JhengHei" panose="020B0604030504040204" pitchFamily="34" charset="-120"/>
              </a:rPr>
              <a:t>: </a:t>
            </a:r>
            <a:r>
              <a:rPr lang="ko-KR" altLang="en-US" sz="1400">
                <a:latin typeface="Microsoft JhengHei" panose="020B0604030504040204" pitchFamily="34" charset="-120"/>
              </a:rPr>
              <a:t>회귀선의 </a:t>
            </a:r>
            <a:r>
              <a:rPr lang="en-US" altLang="ko-KR" sz="1400">
                <a:latin typeface="Microsoft JhengHei" panose="020B0604030504040204" pitchFamily="34" charset="-120"/>
                <a:ea typeface="Microsoft JhengHei" panose="020B0604030504040204" pitchFamily="34" charset="-120"/>
              </a:rPr>
              <a:t>95% </a:t>
            </a:r>
            <a:r>
              <a:rPr lang="ko-KR" altLang="en-US" sz="1400">
                <a:latin typeface="Microsoft JhengHei" panose="020B0604030504040204" pitchFamily="34" charset="-120"/>
              </a:rPr>
              <a:t>신뢰구간 </a:t>
            </a:r>
            <a:r>
              <a:rPr lang="en-US" altLang="ko-KR" sz="1400">
                <a:latin typeface="Microsoft JhengHei" panose="020B0604030504040204" pitchFamily="34" charset="-120"/>
                <a:ea typeface="Microsoft JhengHei" panose="020B0604030504040204" pitchFamily="34" charset="-120"/>
              </a:rPr>
              <a:t>(</a:t>
            </a:r>
            <a:r>
              <a:rPr lang="ko-KR" altLang="en-US" sz="1400">
                <a:latin typeface="Microsoft JhengHei" panose="020B0604030504040204" pitchFamily="34" charset="-120"/>
              </a:rPr>
              <a:t>그 회귀선 추정의 불확실성 범위</a:t>
            </a:r>
            <a:r>
              <a:rPr lang="en-US" altLang="ko-KR" sz="1400">
                <a:latin typeface="Microsoft JhengHei" panose="020B0604030504040204" pitchFamily="34" charset="-120"/>
                <a:ea typeface="Microsoft JhengHei" panose="020B0604030504040204" pitchFamily="34" charset="-120"/>
              </a:rPr>
              <a:t>)</a:t>
            </a:r>
          </a:p>
        </p:txBody>
      </p:sp>
      <p:sp>
        <p:nvSpPr>
          <p:cNvPr id="8" name="TextBox 7">
            <a:extLst>
              <a:ext uri="{FF2B5EF4-FFF2-40B4-BE49-F238E27FC236}">
                <a16:creationId xmlns:a16="http://schemas.microsoft.com/office/drawing/2014/main" id="{16DE9F7B-3413-4922-95F0-9A06B9F882D9}"/>
              </a:ext>
            </a:extLst>
          </p:cNvPr>
          <p:cNvSpPr txBox="1"/>
          <p:nvPr/>
        </p:nvSpPr>
        <p:spPr>
          <a:xfrm>
            <a:off x="6702281" y="5748764"/>
            <a:ext cx="5489719" cy="1055289"/>
          </a:xfrm>
          <a:prstGeom prst="rect">
            <a:avLst/>
          </a:prstGeom>
          <a:noFill/>
        </p:spPr>
        <p:txBody>
          <a:bodyPr wrap="square" rtlCol="0">
            <a:spAutoFit/>
          </a:bodyPr>
          <a:lstStyle/>
          <a:p>
            <a:pPr marL="285750" indent="-285750">
              <a:lnSpc>
                <a:spcPct val="114000"/>
              </a:lnSpc>
              <a:buFont typeface="Arial" panose="020B0604020202020204" pitchFamily="34" charset="0"/>
              <a:buChar char="•"/>
            </a:pPr>
            <a:r>
              <a:rPr lang="ko-KR" altLang="en-US" sz="1400">
                <a:latin typeface="Microsoft JhengHei" panose="020B0604030504040204" pitchFamily="34" charset="-120"/>
              </a:rPr>
              <a:t>각 변수가 얼마나 기여하는지 절댓값을 취한 </a:t>
            </a:r>
            <a:r>
              <a:rPr lang="en-US" altLang="ko-KR" sz="1400">
                <a:latin typeface="Microsoft JhengHei" panose="020B0604030504040204" pitchFamily="34" charset="-120"/>
                <a:ea typeface="Microsoft JhengHei" panose="020B0604030504040204" pitchFamily="34" charset="-120"/>
              </a:rPr>
              <a:t>bar </a:t>
            </a:r>
            <a:r>
              <a:rPr lang="ko-KR" altLang="en-US" sz="1400">
                <a:latin typeface="Microsoft JhengHei" panose="020B0604030504040204" pitchFamily="34" charset="-120"/>
              </a:rPr>
              <a:t>그래프 </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14000"/>
              </a:lnSpc>
              <a:buFont typeface="Arial" panose="020B0604020202020204" pitchFamily="34" charset="0"/>
              <a:buChar char="•"/>
            </a:pPr>
            <a:r>
              <a:rPr lang="ko-KR" altLang="en-US" sz="1400">
                <a:latin typeface="Microsoft JhengHei" panose="020B0604030504040204" pitchFamily="34" charset="-120"/>
              </a:rPr>
              <a:t>코드에서 </a:t>
            </a:r>
            <a:r>
              <a:rPr lang="en-US" altLang="ko-KR" sz="1400">
                <a:latin typeface="Microsoft JhengHei" panose="020B0604030504040204" pitchFamily="34" charset="-120"/>
                <a:ea typeface="Microsoft JhengHei" panose="020B0604030504040204" pitchFamily="34" charset="-120"/>
              </a:rPr>
              <a:t>plsr</a:t>
            </a:r>
            <a:r>
              <a:rPr lang="ko-KR" altLang="en-US" sz="1400">
                <a:latin typeface="Microsoft JhengHei" panose="020B0604030504040204" pitchFamily="34" charset="-120"/>
              </a:rPr>
              <a:t>은 </a:t>
            </a:r>
            <a:r>
              <a:rPr lang="en-US" altLang="ko-KR" sz="1400">
                <a:latin typeface="Microsoft JhengHei" panose="020B0604030504040204" pitchFamily="34" charset="-120"/>
                <a:ea typeface="Microsoft JhengHei" panose="020B0604030504040204" pitchFamily="34" charset="-120"/>
              </a:rPr>
              <a:t>component 1</a:t>
            </a:r>
            <a:r>
              <a:rPr lang="ko-KR" altLang="en-US" sz="1400">
                <a:latin typeface="Microsoft JhengHei" panose="020B0604030504040204" pitchFamily="34" charset="-120"/>
              </a:rPr>
              <a:t>개만 만들도록 설정함</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14000"/>
              </a:lnSpc>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component1(comp1)</a:t>
            </a:r>
            <a:r>
              <a:rPr lang="ko-KR" altLang="en-US" sz="1400">
                <a:latin typeface="Microsoft JhengHei" panose="020B0604030504040204" pitchFamily="34" charset="-120"/>
              </a:rPr>
              <a:t>은 </a:t>
            </a:r>
            <a:r>
              <a:rPr lang="en-US" altLang="ko-KR" sz="1400">
                <a:latin typeface="Microsoft JhengHei" panose="020B0604030504040204" pitchFamily="34" charset="-120"/>
                <a:ea typeface="Microsoft JhengHei" panose="020B0604030504040204" pitchFamily="34" charset="-120"/>
              </a:rPr>
              <a:t>PAN%</a:t>
            </a:r>
            <a:r>
              <a:rPr lang="ko-KR" altLang="en-US" sz="1400">
                <a:latin typeface="Microsoft JhengHei" panose="020B0604030504040204" pitchFamily="34" charset="-120"/>
              </a:rPr>
              <a:t>을 가장 잘 대표하면서</a:t>
            </a:r>
            <a:r>
              <a:rPr lang="en-US" altLang="ko-KR" sz="1400">
                <a:latin typeface="Microsoft JhengHei" panose="020B0604030504040204" pitchFamily="34" charset="-120"/>
                <a:ea typeface="Microsoft JhengHei" panose="020B0604030504040204" pitchFamily="34" charset="-120"/>
              </a:rPr>
              <a:t>, </a:t>
            </a:r>
            <a:r>
              <a:rPr lang="ko-KR" altLang="en-US" sz="1400">
                <a:latin typeface="Microsoft JhengHei" panose="020B0604030504040204" pitchFamily="34" charset="-120"/>
              </a:rPr>
              <a:t>동시에 </a:t>
            </a:r>
            <a:r>
              <a:rPr lang="en-US" altLang="ko-KR" sz="1400">
                <a:latin typeface="Microsoft JhengHei" panose="020B0604030504040204" pitchFamily="34" charset="-120"/>
                <a:ea typeface="Microsoft JhengHei" panose="020B0604030504040204" pitchFamily="34" charset="-120"/>
              </a:rPr>
              <a:t>age</a:t>
            </a:r>
            <a:r>
              <a:rPr lang="ko-KR" altLang="en-US" sz="1400">
                <a:latin typeface="Microsoft JhengHei" panose="020B0604030504040204" pitchFamily="34" charset="-120"/>
              </a:rPr>
              <a:t>와도 관련이 있는 하나의 요약 축</a:t>
            </a:r>
            <a:endParaRPr lang="en-US" altLang="ko-KR" sz="140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2778977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A6449C-CA84-4F3A-8504-DC9A6E4BBA91}"/>
              </a:ext>
            </a:extLst>
          </p:cNvPr>
          <p:cNvSpPr>
            <a:spLocks noGrp="1"/>
          </p:cNvSpPr>
          <p:nvPr>
            <p:ph type="title"/>
          </p:nvPr>
        </p:nvSpPr>
        <p:spPr>
          <a:xfrm>
            <a:off x="0" y="0"/>
            <a:ext cx="6282466" cy="1049867"/>
          </a:xfrm>
        </p:spPr>
        <p:txBody>
          <a:bodyPr>
            <a:normAutofit/>
          </a:bodyPr>
          <a:lstStyle/>
          <a:p>
            <a:r>
              <a:rPr lang="en-US" altLang="ko-KR" sz="2800">
                <a:latin typeface="프리젠테이션 6 SemiBold" pitchFamily="2" charset="-127"/>
                <a:ea typeface="프리젠테이션 6 SemiBold" pitchFamily="2" charset="-127"/>
              </a:rPr>
              <a:t>2. PC</a:t>
            </a:r>
            <a:r>
              <a:rPr lang="ko-KR" altLang="en-US" sz="2800">
                <a:latin typeface="프리젠테이션 6 SemiBold" pitchFamily="2" charset="-127"/>
                <a:ea typeface="프리젠테이션 6 SemiBold" pitchFamily="2" charset="-127"/>
              </a:rPr>
              <a:t>분석</a:t>
            </a:r>
            <a:r>
              <a:rPr lang="en-US" altLang="ko-KR" sz="2800">
                <a:latin typeface="프리젠테이션 6 SemiBold" pitchFamily="2" charset="-127"/>
                <a:ea typeface="프리젠테이션 6 SemiBold" pitchFamily="2" charset="-127"/>
              </a:rPr>
              <a:t>- Age vs B, T, Cd11c</a:t>
            </a:r>
            <a:endParaRPr lang="ko-KR" altLang="en-US" sz="2800">
              <a:latin typeface="프리젠테이션 6 SemiBold" pitchFamily="2" charset="-127"/>
              <a:ea typeface="프리젠테이션 6 SemiBold" pitchFamily="2" charset="-127"/>
            </a:endParaRPr>
          </a:p>
        </p:txBody>
      </p:sp>
      <p:pic>
        <p:nvPicPr>
          <p:cNvPr id="4" name="그림 3">
            <a:extLst>
              <a:ext uri="{FF2B5EF4-FFF2-40B4-BE49-F238E27FC236}">
                <a16:creationId xmlns:a16="http://schemas.microsoft.com/office/drawing/2014/main" id="{08515F37-320E-4893-9AFA-CD8FC2D54324}"/>
              </a:ext>
            </a:extLst>
          </p:cNvPr>
          <p:cNvPicPr>
            <a:picLocks noChangeAspect="1"/>
          </p:cNvPicPr>
          <p:nvPr/>
        </p:nvPicPr>
        <p:blipFill>
          <a:blip r:embed="rId3"/>
          <a:stretch>
            <a:fillRect/>
          </a:stretch>
        </p:blipFill>
        <p:spPr>
          <a:xfrm>
            <a:off x="859343" y="3188199"/>
            <a:ext cx="3535576" cy="2525412"/>
          </a:xfrm>
          <a:prstGeom prst="rect">
            <a:avLst/>
          </a:prstGeom>
          <a:ln>
            <a:solidFill>
              <a:schemeClr val="tx1"/>
            </a:solidFill>
          </a:ln>
        </p:spPr>
      </p:pic>
      <p:pic>
        <p:nvPicPr>
          <p:cNvPr id="5" name="그림 4">
            <a:extLst>
              <a:ext uri="{FF2B5EF4-FFF2-40B4-BE49-F238E27FC236}">
                <a16:creationId xmlns:a16="http://schemas.microsoft.com/office/drawing/2014/main" id="{70C6DB58-A616-41F3-A16A-DF38F0ED35C5}"/>
              </a:ext>
            </a:extLst>
          </p:cNvPr>
          <p:cNvPicPr>
            <a:picLocks noChangeAspect="1"/>
          </p:cNvPicPr>
          <p:nvPr/>
        </p:nvPicPr>
        <p:blipFill>
          <a:blip r:embed="rId4"/>
          <a:stretch>
            <a:fillRect/>
          </a:stretch>
        </p:blipFill>
        <p:spPr>
          <a:xfrm>
            <a:off x="7444290" y="3076685"/>
            <a:ext cx="3535578" cy="2525413"/>
          </a:xfrm>
          <a:prstGeom prst="rect">
            <a:avLst/>
          </a:prstGeom>
          <a:ln>
            <a:solidFill>
              <a:schemeClr val="tx1"/>
            </a:solidFill>
          </a:ln>
        </p:spPr>
      </p:pic>
      <p:sp>
        <p:nvSpPr>
          <p:cNvPr id="6" name="TextBox 5">
            <a:extLst>
              <a:ext uri="{FF2B5EF4-FFF2-40B4-BE49-F238E27FC236}">
                <a16:creationId xmlns:a16="http://schemas.microsoft.com/office/drawing/2014/main" id="{07089A42-901E-4DFB-8548-1A1C8767D3C8}"/>
              </a:ext>
            </a:extLst>
          </p:cNvPr>
          <p:cNvSpPr txBox="1"/>
          <p:nvPr/>
        </p:nvSpPr>
        <p:spPr>
          <a:xfrm>
            <a:off x="380103" y="5817543"/>
            <a:ext cx="5489719" cy="954107"/>
          </a:xfrm>
          <a:prstGeom prst="rect">
            <a:avLst/>
          </a:prstGeom>
          <a:noFill/>
        </p:spPr>
        <p:txBody>
          <a:bodyPr wrap="square" rtlCol="0">
            <a:spAutoFit/>
          </a:bodyPr>
          <a:lstStyle/>
          <a:p>
            <a:pPr marL="285750" indent="-285750">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X label: correlation analysis</a:t>
            </a:r>
            <a:r>
              <a:rPr lang="ko-KR" altLang="en-US" sz="1400">
                <a:latin typeface="Microsoft JhengHei" panose="020B0604030504040204" pitchFamily="34" charset="-120"/>
              </a:rPr>
              <a:t>의 </a:t>
            </a:r>
            <a:r>
              <a:rPr lang="en-US" altLang="ko-KR" sz="1400">
                <a:latin typeface="Microsoft JhengHei" panose="020B0604030504040204" pitchFamily="34" charset="-120"/>
                <a:ea typeface="Microsoft JhengHei" panose="020B0604030504040204" pitchFamily="34" charset="-120"/>
              </a:rPr>
              <a:t>r</a:t>
            </a:r>
            <a:r>
              <a:rPr lang="ko-KR" altLang="en-US" sz="1400">
                <a:latin typeface="Microsoft JhengHei" panose="020B0604030504040204" pitchFamily="34" charset="-120"/>
              </a:rPr>
              <a:t>값에 절댓값을 붙인 결과</a:t>
            </a:r>
            <a:endParaRPr lang="en-US" altLang="ko-KR" sz="140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Y label: </a:t>
            </a:r>
            <a:r>
              <a:rPr lang="ko-KR" altLang="en-US" sz="1400">
                <a:latin typeface="Microsoft JhengHei" panose="020B0604030504040204" pitchFamily="34" charset="-120"/>
              </a:rPr>
              <a:t>각 </a:t>
            </a:r>
            <a:r>
              <a:rPr lang="en-US" altLang="ko-KR" sz="1400">
                <a:latin typeface="Microsoft JhengHei" panose="020B0604030504040204" pitchFamily="34" charset="-120"/>
                <a:ea typeface="Microsoft JhengHei" panose="020B0604030504040204" pitchFamily="34" charset="-120"/>
              </a:rPr>
              <a:t>pc</a:t>
            </a:r>
            <a:r>
              <a:rPr lang="ko-KR" altLang="en-US" sz="1400">
                <a:latin typeface="Microsoft JhengHei" panose="020B0604030504040204" pitchFamily="34" charset="-120"/>
              </a:rPr>
              <a:t>축 </a:t>
            </a:r>
            <a:r>
              <a:rPr lang="en-US" altLang="ko-KR" sz="1400">
                <a:latin typeface="Microsoft JhengHei" panose="020B0604030504040204" pitchFamily="34" charset="-120"/>
                <a:ea typeface="Microsoft JhengHei" panose="020B0604030504040204" pitchFamily="34" charset="-120"/>
              </a:rPr>
              <a:t>(T, B, CD11c)</a:t>
            </a:r>
          </a:p>
          <a:p>
            <a:pPr marL="285750" indent="-285750">
              <a:buFont typeface="Arial" panose="020B0604020202020204" pitchFamily="34" charset="0"/>
              <a:buChar char="•"/>
            </a:pPr>
            <a:r>
              <a:rPr lang="ko-KR" altLang="en-US" sz="1400">
                <a:latin typeface="Microsoft JhengHei" panose="020B0604030504040204" pitchFamily="34" charset="-120"/>
              </a:rPr>
              <a:t>색 선정 기준 </a:t>
            </a:r>
            <a:r>
              <a:rPr lang="en-US" altLang="ko-KR" sz="1400">
                <a:latin typeface="Microsoft JhengHei" panose="020B0604030504040204" pitchFamily="34" charset="-120"/>
                <a:ea typeface="Microsoft JhengHei" panose="020B0604030504040204" pitchFamily="34" charset="-120"/>
              </a:rPr>
              <a:t>:  permutation pvalue</a:t>
            </a:r>
            <a:r>
              <a:rPr lang="ko-KR" altLang="en-US" sz="1400">
                <a:latin typeface="Microsoft JhengHei" panose="020B0604030504040204" pitchFamily="34" charset="-120"/>
              </a:rPr>
              <a:t>가 낮을수록 밝은 색</a:t>
            </a:r>
            <a:endParaRPr lang="en-US" altLang="ko-KR" sz="140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 : </a:t>
            </a:r>
            <a:r>
              <a:rPr lang="ko-KR" altLang="en-US" sz="1400">
                <a:latin typeface="Microsoft JhengHei" panose="020B0604030504040204" pitchFamily="34" charset="-120"/>
              </a:rPr>
              <a:t>다중검정 보정 후 결과 </a:t>
            </a:r>
            <a:r>
              <a:rPr lang="en-US" altLang="ko-KR" sz="1400">
                <a:latin typeface="Microsoft JhengHei" panose="020B0604030504040204" pitchFamily="34" charset="-120"/>
                <a:ea typeface="Microsoft JhengHei" panose="020B0604030504040204" pitchFamily="34" charset="-120"/>
              </a:rPr>
              <a:t>q&lt;0.05</a:t>
            </a:r>
            <a:r>
              <a:rPr lang="ko-KR" altLang="en-US" sz="1400">
                <a:latin typeface="Microsoft JhengHei" panose="020B0604030504040204" pitchFamily="34" charset="-120"/>
              </a:rPr>
              <a:t>인 경우 표시 </a:t>
            </a:r>
            <a:endParaRPr lang="en-US" altLang="ko-KR" sz="1400">
              <a:latin typeface="Microsoft JhengHei" panose="020B0604030504040204" pitchFamily="34" charset="-120"/>
              <a:ea typeface="Microsoft JhengHei" panose="020B0604030504040204" pitchFamily="34" charset="-120"/>
            </a:endParaRPr>
          </a:p>
        </p:txBody>
      </p:sp>
      <p:sp>
        <p:nvSpPr>
          <p:cNvPr id="7" name="TextBox 6">
            <a:extLst>
              <a:ext uri="{FF2B5EF4-FFF2-40B4-BE49-F238E27FC236}">
                <a16:creationId xmlns:a16="http://schemas.microsoft.com/office/drawing/2014/main" id="{B6ED4602-9C11-4895-AE22-3B9DA32E880F}"/>
              </a:ext>
            </a:extLst>
          </p:cNvPr>
          <p:cNvSpPr txBox="1"/>
          <p:nvPr/>
        </p:nvSpPr>
        <p:spPr>
          <a:xfrm>
            <a:off x="6723797" y="5817543"/>
            <a:ext cx="5088100" cy="738664"/>
          </a:xfrm>
          <a:prstGeom prst="rect">
            <a:avLst/>
          </a:prstGeom>
          <a:noFill/>
        </p:spPr>
        <p:txBody>
          <a:bodyPr wrap="square" rtlCol="0">
            <a:spAutoFit/>
          </a:bodyPr>
          <a:lstStyle/>
          <a:p>
            <a:pPr marL="285750" indent="-285750">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PC1</a:t>
            </a:r>
            <a:r>
              <a:rPr lang="ko-KR" altLang="en-US" sz="1400">
                <a:latin typeface="Microsoft JhengHei" panose="020B0604030504040204" pitchFamily="34" charset="-120"/>
              </a:rPr>
              <a:t>에 기여한 변수들 </a:t>
            </a:r>
            <a:r>
              <a:rPr lang="en-US" altLang="ko-KR" sz="1400">
                <a:latin typeface="Microsoft JhengHei" panose="020B0604030504040204" pitchFamily="34" charset="-120"/>
                <a:ea typeface="Microsoft JhengHei" panose="020B0604030504040204" pitchFamily="34" charset="-120"/>
              </a:rPr>
              <a:t>loading </a:t>
            </a:r>
            <a:r>
              <a:rPr lang="ko-KR" altLang="en-US" sz="1400">
                <a:latin typeface="Microsoft JhengHei" panose="020B0604030504040204" pitchFamily="34" charset="-120"/>
                <a:ea typeface="Microsoft JhengHei" panose="020B0604030504040204" pitchFamily="34" charset="-120"/>
              </a:rPr>
              <a:t>절댓값</a:t>
            </a:r>
            <a:r>
              <a:rPr lang="ko-KR" altLang="en-US" sz="1400">
                <a:latin typeface="Microsoft JhengHei" panose="020B0604030504040204" pitchFamily="34" charset="-120"/>
              </a:rPr>
              <a:t>이 높은 순서로 나열</a:t>
            </a:r>
            <a:endParaRPr lang="en-US" altLang="ko-KR" sz="1400">
              <a:latin typeface="Microsoft JhengHei" panose="020B0604030504040204" pitchFamily="34" charset="-120"/>
              <a:ea typeface="Microsoft JhengHei" panose="020B0604030504040204" pitchFamily="34" charset="-120"/>
            </a:endParaRPr>
          </a:p>
          <a:p>
            <a:pPr marL="285750" indent="-285750">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PC1</a:t>
            </a:r>
            <a:r>
              <a:rPr lang="ko-KR" altLang="en-US" sz="1400">
                <a:latin typeface="Microsoft JhengHei" panose="020B0604030504040204" pitchFamily="34" charset="-120"/>
              </a:rPr>
              <a:t>을 구성하는 변수들의 기여 방향보다는 기여 크기 자체를 직관적으로 비교하기 위해 절댓값을 사용 </a:t>
            </a:r>
            <a:endParaRPr lang="en-US" altLang="ko-KR" sz="1400">
              <a:latin typeface="Microsoft JhengHei" panose="020B0604030504040204" pitchFamily="34" charset="-120"/>
              <a:ea typeface="Microsoft JhengHei" panose="020B0604030504040204" pitchFamily="34" charset="-120"/>
            </a:endParaRPr>
          </a:p>
        </p:txBody>
      </p:sp>
      <p:sp>
        <p:nvSpPr>
          <p:cNvPr id="8" name="TextBox 7">
            <a:extLst>
              <a:ext uri="{FF2B5EF4-FFF2-40B4-BE49-F238E27FC236}">
                <a16:creationId xmlns:a16="http://schemas.microsoft.com/office/drawing/2014/main" id="{06B5FD5A-9B3E-4461-BDA9-2D65BD390878}"/>
              </a:ext>
            </a:extLst>
          </p:cNvPr>
          <p:cNvSpPr txBox="1"/>
          <p:nvPr/>
        </p:nvSpPr>
        <p:spPr>
          <a:xfrm>
            <a:off x="168537" y="750883"/>
            <a:ext cx="11919473" cy="199253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ko-KR" sz="1400" b="1">
                <a:latin typeface="Microsoft JhengHei" panose="020B0604030504040204" pitchFamily="34" charset="-120"/>
                <a:ea typeface="Microsoft JhengHei" panose="020B0604030504040204" pitchFamily="34" charset="-120"/>
              </a:rPr>
              <a:t>PC</a:t>
            </a:r>
            <a:r>
              <a:rPr lang="ko-KR" altLang="en-US" sz="1400" b="1">
                <a:latin typeface="Microsoft JhengHei" panose="020B0604030504040204" pitchFamily="34" charset="-120"/>
              </a:rPr>
              <a:t>분석</a:t>
            </a:r>
            <a:r>
              <a:rPr lang="en-US" altLang="ko-KR" sz="1400">
                <a:latin typeface="Microsoft JhengHei" panose="020B0604030504040204" pitchFamily="34" charset="-120"/>
                <a:ea typeface="Microsoft JhengHei" panose="020B0604030504040204" pitchFamily="34" charset="-120"/>
              </a:rPr>
              <a:t>: </a:t>
            </a:r>
            <a:r>
              <a:rPr lang="ko-KR" altLang="en-US" sz="1400">
                <a:latin typeface="Microsoft JhengHei" panose="020B0604030504040204" pitchFamily="34" charset="-120"/>
              </a:rPr>
              <a:t>관련된 세포군을 블록 단위로 묶은뒤</a:t>
            </a:r>
            <a:r>
              <a:rPr lang="en-US" altLang="ko-KR" sz="1400">
                <a:latin typeface="Microsoft JhengHei" panose="020B0604030504040204" pitchFamily="34" charset="-120"/>
                <a:ea typeface="Microsoft JhengHei" panose="020B0604030504040204" pitchFamily="34" charset="-120"/>
              </a:rPr>
              <a:t>(PCA), </a:t>
            </a:r>
            <a:r>
              <a:rPr lang="ko-KR" altLang="en-US" sz="1400">
                <a:latin typeface="Microsoft JhengHei" panose="020B0604030504040204" pitchFamily="34" charset="-120"/>
              </a:rPr>
              <a:t>각 블록의 대표 패턴</a:t>
            </a:r>
            <a:r>
              <a:rPr lang="en-US" altLang="ko-KR" sz="1400">
                <a:latin typeface="Microsoft JhengHei" panose="020B0604030504040204" pitchFamily="34" charset="-120"/>
                <a:ea typeface="Microsoft JhengHei" panose="020B0604030504040204" pitchFamily="34" charset="-120"/>
              </a:rPr>
              <a:t>(</a:t>
            </a:r>
            <a:r>
              <a:rPr lang="ko-KR" altLang="en-US" sz="1400">
                <a:latin typeface="Microsoft JhengHei" panose="020B0604030504040204" pitchFamily="34" charset="-120"/>
              </a:rPr>
              <a:t>첫번째 주성분인 </a:t>
            </a:r>
            <a:r>
              <a:rPr lang="en-US" altLang="ko-KR" sz="1400">
                <a:latin typeface="Microsoft JhengHei" panose="020B0604030504040204" pitchFamily="34" charset="-120"/>
                <a:ea typeface="Microsoft JhengHei" panose="020B0604030504040204" pitchFamily="34" charset="-120"/>
              </a:rPr>
              <a:t>PC1)</a:t>
            </a:r>
            <a:r>
              <a:rPr lang="ko-KR" altLang="en-US" sz="1400">
                <a:latin typeface="Microsoft JhengHei" panose="020B0604030504040204" pitchFamily="34" charset="-120"/>
              </a:rPr>
              <a:t>이 </a:t>
            </a:r>
            <a:r>
              <a:rPr lang="en-US" altLang="ko-KR" sz="1400">
                <a:latin typeface="Microsoft JhengHei" panose="020B0604030504040204" pitchFamily="34" charset="-120"/>
                <a:ea typeface="Microsoft JhengHei" panose="020B0604030504040204" pitchFamily="34" charset="-120"/>
              </a:rPr>
              <a:t>Age</a:t>
            </a:r>
            <a:r>
              <a:rPr lang="ko-KR" altLang="en-US" sz="1400">
                <a:latin typeface="Microsoft JhengHei" panose="020B0604030504040204" pitchFamily="34" charset="-120"/>
              </a:rPr>
              <a:t>와 어떤 연관이 있는지 분석</a:t>
            </a:r>
            <a:r>
              <a:rPr lang="en-US" altLang="ko-KR" sz="1400">
                <a:latin typeface="Microsoft JhengHei" panose="020B0604030504040204" pitchFamily="34" charset="-120"/>
                <a:ea typeface="Microsoft JhengHei" panose="020B0604030504040204" pitchFamily="34" charset="-120"/>
              </a:rPr>
              <a:t> </a:t>
            </a:r>
          </a:p>
          <a:p>
            <a:pPr marL="285750" indent="-285750">
              <a:lnSpc>
                <a:spcPct val="150000"/>
              </a:lnSpc>
              <a:buFont typeface="Arial" panose="020B0604020202020204" pitchFamily="34" charset="0"/>
              <a:buChar char="•"/>
            </a:pPr>
            <a:r>
              <a:rPr lang="en-US" altLang="ko-KR" sz="1400" u="sng">
                <a:latin typeface="Microsoft JhengHei" panose="020B0604030504040204" pitchFamily="34" charset="-120"/>
                <a:ea typeface="Microsoft JhengHei" panose="020B0604030504040204" pitchFamily="34" charset="-120"/>
              </a:rPr>
              <a:t>Spearman correlation </a:t>
            </a:r>
            <a:r>
              <a:rPr lang="ko-KR" altLang="en-US" sz="1400">
                <a:latin typeface="Microsoft JhengHei" panose="020B0604030504040204" pitchFamily="34" charset="-120"/>
              </a:rPr>
              <a:t>분석 기법 사용 </a:t>
            </a:r>
            <a:r>
              <a:rPr lang="en-US" altLang="ko-KR" sz="1400">
                <a:latin typeface="Microsoft JhengHei" panose="020B0604030504040204" pitchFamily="34" charset="-120"/>
                <a:sym typeface="Wingdings" panose="05000000000000000000" pitchFamily="2" charset="2"/>
              </a:rPr>
              <a:t> </a:t>
            </a:r>
            <a:r>
              <a:rPr lang="ko-KR" altLang="en-US" sz="1400">
                <a:latin typeface="Microsoft JhengHei" panose="020B0604030504040204" pitchFamily="34" charset="-120"/>
                <a:sym typeface="Wingdings" panose="05000000000000000000" pitchFamily="2" charset="2"/>
              </a:rPr>
              <a:t>표본수가 크지 않은 상황에서 안정적인 평가를 위해서 사용함</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b="1">
                <a:latin typeface="Microsoft JhengHei" panose="020B0604030504040204" pitchFamily="34" charset="-120"/>
              </a:rPr>
              <a:t>통계적 유의성 평가 </a:t>
            </a:r>
            <a:r>
              <a:rPr lang="en-US" altLang="ko-KR" sz="1400">
                <a:latin typeface="Microsoft JhengHei" panose="020B0604030504040204" pitchFamily="34" charset="-120"/>
                <a:ea typeface="Microsoft JhengHei" panose="020B0604030504040204" pitchFamily="34" charset="-120"/>
              </a:rPr>
              <a:t>: </a:t>
            </a:r>
            <a:r>
              <a:rPr lang="en-US" altLang="ko-KR" sz="1400" u="sng">
                <a:latin typeface="Microsoft JhengHei" panose="020B0604030504040204" pitchFamily="34" charset="-120"/>
                <a:ea typeface="Microsoft JhengHei" panose="020B0604030504040204" pitchFamily="34" charset="-120"/>
              </a:rPr>
              <a:t>permutation test </a:t>
            </a:r>
            <a:r>
              <a:rPr lang="en-US" altLang="ko-KR" sz="1400">
                <a:latin typeface="Microsoft JhengHei" panose="020B0604030504040204" pitchFamily="34" charset="-120"/>
                <a:ea typeface="Microsoft JhengHei" panose="020B0604030504040204" pitchFamily="34" charset="-120"/>
              </a:rPr>
              <a:t>(N-PERM = 2000), Age </a:t>
            </a:r>
            <a:r>
              <a:rPr lang="ko-KR" altLang="en-US" sz="1400">
                <a:latin typeface="Microsoft JhengHei" panose="020B0604030504040204" pitchFamily="34" charset="-120"/>
              </a:rPr>
              <a:t>값을 </a:t>
            </a:r>
            <a:r>
              <a:rPr lang="en-US" altLang="ko-KR" sz="1400">
                <a:latin typeface="Microsoft JhengHei" panose="020B0604030504040204" pitchFamily="34" charset="-120"/>
                <a:ea typeface="Microsoft JhengHei" panose="020B0604030504040204" pitchFamily="34" charset="-120"/>
              </a:rPr>
              <a:t>2,000</a:t>
            </a:r>
            <a:r>
              <a:rPr lang="ko-KR" altLang="en-US" sz="1400">
                <a:latin typeface="Microsoft JhengHei" panose="020B0604030504040204" pitchFamily="34" charset="-120"/>
              </a:rPr>
              <a:t>번 무작위로 섞어 관측된 </a:t>
            </a:r>
            <a:r>
              <a:rPr lang="en-US" altLang="ko-KR" sz="1400">
                <a:latin typeface="Microsoft JhengHei" panose="020B0604030504040204" pitchFamily="34" charset="-120"/>
                <a:ea typeface="Microsoft JhengHei" panose="020B0604030504040204" pitchFamily="34" charset="-120"/>
              </a:rPr>
              <a:t>PC1–Age </a:t>
            </a:r>
            <a:r>
              <a:rPr lang="ko-KR" altLang="en-US" sz="1400">
                <a:latin typeface="Microsoft JhengHei" panose="020B0604030504040204" pitchFamily="34" charset="-120"/>
              </a:rPr>
              <a:t>상관이 우연히도 이 정도 이상 나올 수 있는지 검정</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b="1">
                <a:latin typeface="Microsoft JhengHei" panose="020B0604030504040204" pitchFamily="34" charset="-120"/>
              </a:rPr>
              <a:t>다중 검정 보정 </a:t>
            </a:r>
            <a:r>
              <a:rPr lang="en-US" altLang="ko-KR" sz="1400">
                <a:latin typeface="Microsoft JhengHei" panose="020B0604030504040204" pitchFamily="34" charset="-120"/>
                <a:ea typeface="Microsoft JhengHei" panose="020B0604030504040204" pitchFamily="34" charset="-120"/>
              </a:rPr>
              <a:t>: </a:t>
            </a:r>
            <a:r>
              <a:rPr lang="en-US" altLang="ko-KR" sz="1400" u="sng">
                <a:latin typeface="Microsoft JhengHei" panose="020B0604030504040204" pitchFamily="34" charset="-120"/>
                <a:ea typeface="Microsoft JhengHei" panose="020B0604030504040204" pitchFamily="34" charset="-120"/>
              </a:rPr>
              <a:t>Benjamini–Hochberg FDR correction </a:t>
            </a:r>
            <a:r>
              <a:rPr lang="en-US" altLang="ko-KR" sz="1400">
                <a:latin typeface="Microsoft JhengHei" panose="020B0604030504040204" pitchFamily="34" charset="-120"/>
                <a:ea typeface="Microsoft JhengHei" panose="020B0604030504040204" pitchFamily="34" charset="-120"/>
              </a:rPr>
              <a:t>– </a:t>
            </a:r>
            <a:r>
              <a:rPr lang="ko-KR" altLang="en-US" sz="1400">
                <a:latin typeface="Microsoft JhengHei" panose="020B0604030504040204" pitchFamily="34" charset="-120"/>
              </a:rPr>
              <a:t>기준은 </a:t>
            </a:r>
            <a:r>
              <a:rPr lang="de-DE" altLang="ko-KR" sz="1400">
                <a:latin typeface="Microsoft JhengHei" panose="020B0604030504040204" pitchFamily="34" charset="-120"/>
                <a:ea typeface="Microsoft JhengHei" panose="020B0604030504040204" pitchFamily="34" charset="-120"/>
              </a:rPr>
              <a:t>immune block (B, T, CD11c)</a:t>
            </a:r>
            <a:r>
              <a:rPr lang="ko-KR" altLang="en-US" sz="1400">
                <a:latin typeface="Microsoft JhengHei" panose="020B0604030504040204" pitchFamily="34" charset="-120"/>
              </a:rPr>
              <a:t>으로 </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b="1">
                <a:latin typeface="Microsoft JhengHei" panose="020B0604030504040204" pitchFamily="34" charset="-120"/>
              </a:rPr>
              <a:t>공변량 통제</a:t>
            </a:r>
            <a:r>
              <a:rPr lang="en-US" altLang="ko-KR" sz="1400">
                <a:latin typeface="Microsoft JhengHei" panose="020B0604030504040204" pitchFamily="34" charset="-120"/>
                <a:ea typeface="Microsoft JhengHei" panose="020B0604030504040204" pitchFamily="34" charset="-120"/>
              </a:rPr>
              <a:t>: PC1</a:t>
            </a:r>
            <a:r>
              <a:rPr lang="ko-KR" altLang="en-US" sz="1400">
                <a:latin typeface="Microsoft JhengHei" panose="020B0604030504040204" pitchFamily="34" charset="-120"/>
                <a:ea typeface="Microsoft JhengHei" panose="020B0604030504040204" pitchFamily="34" charset="-120"/>
              </a:rPr>
              <a:t>과 </a:t>
            </a:r>
            <a:r>
              <a:rPr lang="en-US" altLang="ko-KR" sz="1400">
                <a:latin typeface="Microsoft JhengHei" panose="020B0604030504040204" pitchFamily="34" charset="-120"/>
                <a:ea typeface="Microsoft JhengHei" panose="020B0604030504040204" pitchFamily="34" charset="-120"/>
              </a:rPr>
              <a:t>Age </a:t>
            </a:r>
            <a:r>
              <a:rPr lang="ko-KR" altLang="en-US" sz="1400">
                <a:latin typeface="Microsoft JhengHei" panose="020B0604030504040204" pitchFamily="34" charset="-120"/>
                <a:ea typeface="Microsoft JhengHei" panose="020B0604030504040204" pitchFamily="34" charset="-120"/>
              </a:rPr>
              <a:t>사이 </a:t>
            </a:r>
            <a:r>
              <a:rPr lang="en-US" altLang="ko-KR" sz="1400">
                <a:latin typeface="Microsoft JhengHei" panose="020B0604030504040204" pitchFamily="34" charset="-120"/>
                <a:ea typeface="Microsoft JhengHei" panose="020B0604030504040204" pitchFamily="34" charset="-120"/>
              </a:rPr>
              <a:t>correlation </a:t>
            </a:r>
            <a:r>
              <a:rPr lang="ko-KR" altLang="en-US" sz="1400">
                <a:latin typeface="Microsoft JhengHei" panose="020B0604030504040204" pitchFamily="34" charset="-120"/>
                <a:ea typeface="Microsoft JhengHei" panose="020B0604030504040204" pitchFamily="34" charset="-120"/>
              </a:rPr>
              <a:t>분석 진행시 공변량 보정</a:t>
            </a:r>
            <a:r>
              <a:rPr lang="en-US" altLang="ko-KR" sz="1400">
                <a:latin typeface="Microsoft JhengHei" panose="020B0604030504040204" pitchFamily="34" charset="-120"/>
                <a:ea typeface="Microsoft JhengHei" panose="020B0604030504040204" pitchFamily="34" charset="-120"/>
              </a:rPr>
              <a:t>(BMI, Sex)</a:t>
            </a:r>
          </a:p>
        </p:txBody>
      </p:sp>
    </p:spTree>
    <p:extLst>
      <p:ext uri="{BB962C8B-B14F-4D97-AF65-F5344CB8AC3E}">
        <p14:creationId xmlns:p14="http://schemas.microsoft.com/office/powerpoint/2010/main" val="853886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A6449C-CA84-4F3A-8504-DC9A6E4BBA91}"/>
              </a:ext>
            </a:extLst>
          </p:cNvPr>
          <p:cNvSpPr>
            <a:spLocks noGrp="1"/>
          </p:cNvSpPr>
          <p:nvPr>
            <p:ph type="title"/>
          </p:nvPr>
        </p:nvSpPr>
        <p:spPr>
          <a:xfrm>
            <a:off x="0" y="0"/>
            <a:ext cx="6282466" cy="1049867"/>
          </a:xfrm>
        </p:spPr>
        <p:txBody>
          <a:bodyPr>
            <a:normAutofit/>
          </a:bodyPr>
          <a:lstStyle/>
          <a:p>
            <a:r>
              <a:rPr lang="en-US" altLang="ko-KR" sz="2800">
                <a:latin typeface="프리젠테이션 6 SemiBold" pitchFamily="2" charset="-127"/>
                <a:ea typeface="프리젠테이션 6 SemiBold" pitchFamily="2" charset="-127"/>
              </a:rPr>
              <a:t>3. Partial correlation analysis(1:1)</a:t>
            </a:r>
            <a:endParaRPr lang="ko-KR" altLang="en-US" sz="2800">
              <a:latin typeface="프리젠테이션 6 SemiBold" pitchFamily="2" charset="-127"/>
              <a:ea typeface="프리젠테이션 6 SemiBold" pitchFamily="2" charset="-127"/>
            </a:endParaRPr>
          </a:p>
        </p:txBody>
      </p:sp>
      <p:sp>
        <p:nvSpPr>
          <p:cNvPr id="4" name="TextBox 3">
            <a:extLst>
              <a:ext uri="{FF2B5EF4-FFF2-40B4-BE49-F238E27FC236}">
                <a16:creationId xmlns:a16="http://schemas.microsoft.com/office/drawing/2014/main" id="{2BD07F07-2351-4762-A5FF-E2AB61A0352D}"/>
              </a:ext>
            </a:extLst>
          </p:cNvPr>
          <p:cNvSpPr txBox="1"/>
          <p:nvPr/>
        </p:nvSpPr>
        <p:spPr>
          <a:xfrm>
            <a:off x="322729" y="885952"/>
            <a:ext cx="11919473" cy="69865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T</a:t>
            </a:r>
            <a:r>
              <a:rPr lang="ko-KR" altLang="en-US" sz="1400">
                <a:latin typeface="Microsoft JhengHei" panose="020B0604030504040204" pitchFamily="34" charset="-120"/>
                <a:ea typeface="Microsoft JhengHei" panose="020B0604030504040204" pitchFamily="34" charset="-120"/>
              </a:rPr>
              <a:t>세포를 더 자세히 분석하고자 나이와 각 </a:t>
            </a:r>
            <a:r>
              <a:rPr lang="en-US" altLang="ko-KR" sz="1400">
                <a:latin typeface="Microsoft JhengHei" panose="020B0604030504040204" pitchFamily="34" charset="-120"/>
                <a:ea typeface="Microsoft JhengHei" panose="020B0604030504040204" pitchFamily="34" charset="-120"/>
              </a:rPr>
              <a:t>T </a:t>
            </a:r>
            <a:r>
              <a:rPr lang="ko-KR" altLang="en-US" sz="1400">
                <a:latin typeface="Microsoft JhengHei" panose="020B0604030504040204" pitchFamily="34" charset="-120"/>
                <a:ea typeface="Microsoft JhengHei" panose="020B0604030504040204" pitchFamily="34" charset="-120"/>
              </a:rPr>
              <a:t>세포 </a:t>
            </a:r>
            <a:r>
              <a:rPr lang="en-US" altLang="ko-KR" sz="1400">
                <a:latin typeface="Microsoft JhengHei" panose="020B0604030504040204" pitchFamily="34" charset="-120"/>
                <a:ea typeface="Microsoft JhengHei" panose="020B0604030504040204" pitchFamily="34" charset="-120"/>
              </a:rPr>
              <a:t>(['NKT2', 'MAIT', 'gd1T', 'gd2T', 'ConvT%']) </a:t>
            </a:r>
            <a:r>
              <a:rPr lang="ko-KR" altLang="en-US" sz="1400">
                <a:latin typeface="Microsoft JhengHei" panose="020B0604030504040204" pitchFamily="34" charset="-120"/>
                <a:ea typeface="Microsoft JhengHei" panose="020B0604030504040204" pitchFamily="34" charset="-120"/>
              </a:rPr>
              <a:t>사이  </a:t>
            </a:r>
            <a:r>
              <a:rPr lang="en-US" altLang="ko-KR" sz="1400">
                <a:latin typeface="Microsoft JhengHei" panose="020B0604030504040204" pitchFamily="34" charset="-120"/>
                <a:ea typeface="Microsoft JhengHei" panose="020B0604030504040204" pitchFamily="34" charset="-120"/>
              </a:rPr>
              <a:t>1:1 spearman partial correlation</a:t>
            </a:r>
            <a:r>
              <a:rPr lang="ko-KR" altLang="en-US" sz="1400">
                <a:latin typeface="Microsoft JhengHei" panose="020B0604030504040204" pitchFamily="34" charset="-120"/>
                <a:ea typeface="Microsoft JhengHei" panose="020B0604030504040204" pitchFamily="34" charset="-120"/>
              </a:rPr>
              <a:t>분석</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a:latin typeface="Microsoft JhengHei" panose="020B0604030504040204" pitchFamily="34" charset="-120"/>
                <a:sym typeface="Wingdings" panose="05000000000000000000" pitchFamily="2" charset="2"/>
              </a:rPr>
              <a:t>표본수가 크지 않은 상황에서 안정적인 평가를 위해서 </a:t>
            </a:r>
            <a:r>
              <a:rPr lang="en-US" altLang="ko-KR" sz="1400">
                <a:latin typeface="Microsoft JhengHei" panose="020B0604030504040204" pitchFamily="34" charset="-120"/>
                <a:sym typeface="Wingdings" panose="05000000000000000000" pitchFamily="2" charset="2"/>
              </a:rPr>
              <a:t>spearman</a:t>
            </a:r>
            <a:r>
              <a:rPr lang="ko-KR" altLang="en-US" sz="1400">
                <a:latin typeface="Microsoft JhengHei" panose="020B0604030504040204" pitchFamily="34" charset="-120"/>
                <a:sym typeface="Wingdings" panose="05000000000000000000" pitchFamily="2" charset="2"/>
              </a:rPr>
              <a:t>기법 사용</a:t>
            </a:r>
            <a:endParaRPr lang="en-US" altLang="ko-KR" sz="1400">
              <a:latin typeface="Microsoft JhengHei" panose="020B0604030504040204" pitchFamily="34" charset="-120"/>
              <a:ea typeface="Microsoft JhengHei" panose="020B0604030504040204" pitchFamily="34" charset="-120"/>
            </a:endParaRPr>
          </a:p>
        </p:txBody>
      </p:sp>
      <p:sp>
        <p:nvSpPr>
          <p:cNvPr id="5" name="직사각형 4">
            <a:extLst>
              <a:ext uri="{FF2B5EF4-FFF2-40B4-BE49-F238E27FC236}">
                <a16:creationId xmlns:a16="http://schemas.microsoft.com/office/drawing/2014/main" id="{D9FB63B4-4C45-45FB-905A-921B20B5A5EB}"/>
              </a:ext>
            </a:extLst>
          </p:cNvPr>
          <p:cNvSpPr/>
          <p:nvPr/>
        </p:nvSpPr>
        <p:spPr>
          <a:xfrm>
            <a:off x="1741265" y="4891839"/>
            <a:ext cx="10336058" cy="2036776"/>
          </a:xfrm>
          <a:prstGeom prst="rect">
            <a:avLst/>
          </a:prstGeom>
        </p:spPr>
        <p:txBody>
          <a:bodyPr wrap="square">
            <a:spAutoFit/>
          </a:bodyPr>
          <a:lstStyle/>
          <a:p>
            <a:pPr marL="285750" indent="-285750">
              <a:lnSpc>
                <a:spcPct val="114000"/>
              </a:lnSpc>
              <a:buFont typeface="Arial" panose="020B0604020202020204" pitchFamily="34" charset="0"/>
              <a:buChar char="•"/>
            </a:pPr>
            <a:r>
              <a:rPr lang="en-US" altLang="ko-KR" sz="1400">
                <a:solidFill>
                  <a:srgbClr val="FF0000"/>
                </a:solidFill>
                <a:latin typeface="Microsoft JhengHei" panose="020B0604030504040204" pitchFamily="34" charset="-120"/>
                <a:ea typeface="Microsoft JhengHei" panose="020B0604030504040204" pitchFamily="34" charset="-120"/>
              </a:rPr>
              <a:t>AMC</a:t>
            </a:r>
            <a:r>
              <a:rPr lang="ko-KR" altLang="en-US" sz="1400">
                <a:latin typeface="Microsoft JhengHei" panose="020B0604030504040204" pitchFamily="34" charset="-120"/>
                <a:ea typeface="Microsoft JhengHei" panose="020B0604030504040204" pitchFamily="34" charset="-120"/>
              </a:rPr>
              <a:t>에서 </a:t>
            </a:r>
            <a:r>
              <a:rPr lang="en-US" altLang="ko-KR" sz="1400">
                <a:latin typeface="Microsoft JhengHei" panose="020B0604030504040204" pitchFamily="34" charset="-120"/>
                <a:ea typeface="Microsoft JhengHei" panose="020B0604030504040204" pitchFamily="34" charset="-120"/>
              </a:rPr>
              <a:t>q &lt; 0.05</a:t>
            </a:r>
            <a:r>
              <a:rPr lang="ko-KR" altLang="en-US" sz="1400">
                <a:latin typeface="Microsoft JhengHei" panose="020B0604030504040204" pitchFamily="34" charset="-120"/>
              </a:rPr>
              <a:t>인 통계적으로 유의했던 결과만 보여준 </a:t>
            </a:r>
            <a:r>
              <a:rPr lang="en-US" altLang="ko-KR" sz="1400">
                <a:latin typeface="Microsoft JhengHei" panose="020B0604030504040204" pitchFamily="34" charset="-120"/>
                <a:ea typeface="Microsoft JhengHei" panose="020B0604030504040204" pitchFamily="34" charset="-120"/>
              </a:rPr>
              <a:t>figure </a:t>
            </a:r>
            <a:r>
              <a:rPr lang="en-US" altLang="ko-KR" sz="1400">
                <a:latin typeface="Microsoft JhengHei" panose="020B0604030504040204" pitchFamily="34" charset="-120"/>
                <a:ea typeface="Microsoft JhengHei" panose="020B0604030504040204" pitchFamily="34" charset="-120"/>
                <a:sym typeface="Wingdings" panose="05000000000000000000" pitchFamily="2" charset="2"/>
              </a:rPr>
              <a:t> AMC</a:t>
            </a:r>
            <a:r>
              <a:rPr lang="ko-KR" altLang="en-US" sz="1400">
                <a:latin typeface="Microsoft JhengHei" panose="020B0604030504040204" pitchFamily="34" charset="-120"/>
                <a:ea typeface="Microsoft JhengHei" panose="020B0604030504040204" pitchFamily="34" charset="-120"/>
                <a:sym typeface="Wingdings" panose="05000000000000000000" pitchFamily="2" charset="2"/>
              </a:rPr>
              <a:t>에서는 </a:t>
            </a:r>
            <a:r>
              <a:rPr lang="en-US" altLang="ko-KR" sz="1400">
                <a:latin typeface="Microsoft JhengHei" panose="020B0604030504040204" pitchFamily="34" charset="-120"/>
                <a:ea typeface="Microsoft JhengHei" panose="020B0604030504040204" pitchFamily="34" charset="-120"/>
                <a:sym typeface="Wingdings" panose="05000000000000000000" pitchFamily="2" charset="2"/>
              </a:rPr>
              <a:t>ConvT, NKT2</a:t>
            </a:r>
            <a:r>
              <a:rPr lang="ko-KR" altLang="en-US" sz="1400">
                <a:latin typeface="Microsoft JhengHei" panose="020B0604030504040204" pitchFamily="34" charset="-120"/>
                <a:ea typeface="Microsoft JhengHei" panose="020B0604030504040204" pitchFamily="34" charset="-120"/>
                <a:sym typeface="Wingdings" panose="05000000000000000000" pitchFamily="2" charset="2"/>
              </a:rPr>
              <a:t>와 유의함</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14000"/>
              </a:lnSpc>
              <a:buFont typeface="Arial" panose="020B0604020202020204" pitchFamily="34" charset="0"/>
              <a:buChar char="•"/>
            </a:pPr>
            <a:r>
              <a:rPr lang="en-US" altLang="ko-KR" sz="1400">
                <a:latin typeface="Microsoft JhengHei" panose="020B0604030504040204" pitchFamily="34" charset="-120"/>
              </a:rPr>
              <a:t>X</a:t>
            </a:r>
            <a:r>
              <a:rPr lang="ko-KR" altLang="en-US" sz="1400">
                <a:latin typeface="Microsoft JhengHei" panose="020B0604030504040204" pitchFamily="34" charset="-120"/>
              </a:rPr>
              <a:t>축</a:t>
            </a:r>
            <a:r>
              <a:rPr lang="en-US" altLang="ko-KR" sz="1400">
                <a:latin typeface="Microsoft JhengHei" panose="020B0604030504040204" pitchFamily="34" charset="-120"/>
              </a:rPr>
              <a:t>: </a:t>
            </a:r>
            <a:r>
              <a:rPr lang="ko-KR" altLang="en-US" sz="1400">
                <a:latin typeface="Microsoft JhengHei" panose="020B0604030504040204" pitchFamily="34" charset="-120"/>
              </a:rPr>
              <a:t>공변량 영향 제거후 </a:t>
            </a:r>
            <a:r>
              <a:rPr lang="en-US" altLang="ko-KR" sz="1400">
                <a:latin typeface="Microsoft JhengHei" panose="020B0604030504040204" pitchFamily="34" charset="-120"/>
              </a:rPr>
              <a:t>(residualized) </a:t>
            </a:r>
            <a:r>
              <a:rPr lang="ko-KR" altLang="en-US" sz="1400">
                <a:latin typeface="Microsoft JhengHei" panose="020B0604030504040204" pitchFamily="34" charset="-120"/>
              </a:rPr>
              <a:t>각 </a:t>
            </a:r>
            <a:r>
              <a:rPr lang="en-US" altLang="ko-KR" sz="1400">
                <a:latin typeface="Microsoft JhengHei" panose="020B0604030504040204" pitchFamily="34" charset="-120"/>
              </a:rPr>
              <a:t>T</a:t>
            </a:r>
            <a:r>
              <a:rPr lang="ko-KR" altLang="en-US" sz="1400">
                <a:latin typeface="Microsoft JhengHei" panose="020B0604030504040204" pitchFamily="34" charset="-120"/>
              </a:rPr>
              <a:t>세포</a:t>
            </a:r>
            <a:endParaRPr lang="en-US" altLang="ko-KR" sz="1400">
              <a:latin typeface="Microsoft JhengHei" panose="020B0604030504040204" pitchFamily="34" charset="-120"/>
            </a:endParaRPr>
          </a:p>
          <a:p>
            <a:pPr marL="285750" indent="-285750">
              <a:lnSpc>
                <a:spcPct val="114000"/>
              </a:lnSpc>
              <a:buFont typeface="Arial" panose="020B0604020202020204" pitchFamily="34" charset="0"/>
              <a:buChar char="•"/>
            </a:pPr>
            <a:r>
              <a:rPr lang="en-US" altLang="ko-KR" sz="1400">
                <a:latin typeface="Microsoft JhengHei" panose="020B0604030504040204" pitchFamily="34" charset="-120"/>
              </a:rPr>
              <a:t>Y</a:t>
            </a:r>
            <a:r>
              <a:rPr lang="ko-KR" altLang="en-US" sz="1400">
                <a:latin typeface="Microsoft JhengHei" panose="020B0604030504040204" pitchFamily="34" charset="-120"/>
              </a:rPr>
              <a:t>축</a:t>
            </a:r>
            <a:r>
              <a:rPr lang="en-US" altLang="ko-KR" sz="1400">
                <a:latin typeface="Microsoft JhengHei" panose="020B0604030504040204" pitchFamily="34" charset="-120"/>
              </a:rPr>
              <a:t>: </a:t>
            </a:r>
            <a:r>
              <a:rPr lang="ko-KR" altLang="en-US" sz="1400">
                <a:latin typeface="Microsoft JhengHei" panose="020B0604030504040204" pitchFamily="34" charset="-120"/>
              </a:rPr>
              <a:t>공변량 영향 제거후 </a:t>
            </a:r>
            <a:r>
              <a:rPr lang="en-US" altLang="ko-KR" sz="1400">
                <a:latin typeface="Microsoft JhengHei" panose="020B0604030504040204" pitchFamily="34" charset="-120"/>
              </a:rPr>
              <a:t>(residualized) Age</a:t>
            </a:r>
          </a:p>
          <a:p>
            <a:pPr marL="285750" indent="-285750">
              <a:lnSpc>
                <a:spcPct val="114000"/>
              </a:lnSpc>
              <a:buFont typeface="Arial" panose="020B0604020202020204" pitchFamily="34" charset="0"/>
              <a:buChar char="•"/>
            </a:pPr>
            <a:r>
              <a:rPr lang="ko-KR" altLang="en-US" sz="1400">
                <a:latin typeface="Microsoft JhengHei" panose="020B0604030504040204" pitchFamily="34" charset="-120"/>
              </a:rPr>
              <a:t>선</a:t>
            </a:r>
            <a:r>
              <a:rPr lang="en-US" altLang="ko-KR" sz="1400">
                <a:latin typeface="Microsoft JhengHei" panose="020B0604030504040204" pitchFamily="34" charset="-120"/>
              </a:rPr>
              <a:t>: </a:t>
            </a:r>
            <a:r>
              <a:rPr lang="en-US" altLang="ko-KR" sz="1400"/>
              <a:t>residualized Age</a:t>
            </a:r>
            <a:r>
              <a:rPr lang="ko-KR" altLang="en-US" sz="1400"/>
              <a:t>와 </a:t>
            </a:r>
            <a:r>
              <a:rPr lang="en-US" altLang="ko-KR" sz="1400"/>
              <a:t>residualized feature </a:t>
            </a:r>
            <a:r>
              <a:rPr lang="ko-KR" altLang="en-US" sz="1400"/>
              <a:t>사이의 회귀선</a:t>
            </a:r>
            <a:endParaRPr lang="en-US" altLang="ko-KR" sz="1400"/>
          </a:p>
          <a:p>
            <a:pPr marL="285750" indent="-285750">
              <a:lnSpc>
                <a:spcPct val="114000"/>
              </a:lnSpc>
              <a:buFont typeface="Arial" panose="020B0604020202020204" pitchFamily="34" charset="0"/>
              <a:buChar char="•"/>
            </a:pPr>
            <a:r>
              <a:rPr lang="ko-KR" altLang="en-US" sz="1400">
                <a:latin typeface="Microsoft JhengHei" panose="020B0604030504040204" pitchFamily="34" charset="-120"/>
              </a:rPr>
              <a:t>음영</a:t>
            </a:r>
            <a:r>
              <a:rPr lang="en-US" altLang="ko-KR" sz="1400">
                <a:latin typeface="Microsoft JhengHei" panose="020B0604030504040204" pitchFamily="34" charset="-120"/>
              </a:rPr>
              <a:t>: </a:t>
            </a:r>
            <a:r>
              <a:rPr lang="ko-KR" altLang="en-US" sz="1400">
                <a:latin typeface="Microsoft JhengHei" panose="020B0604030504040204" pitchFamily="34" charset="-120"/>
              </a:rPr>
              <a:t>회귀선의 </a:t>
            </a:r>
            <a:r>
              <a:rPr lang="en-US" altLang="ko-KR" sz="1400">
                <a:latin typeface="Microsoft JhengHei" panose="020B0604030504040204" pitchFamily="34" charset="-120"/>
              </a:rPr>
              <a:t>95% </a:t>
            </a:r>
            <a:r>
              <a:rPr lang="ko-KR" altLang="en-US" sz="1400">
                <a:latin typeface="Microsoft JhengHei" panose="020B0604030504040204" pitchFamily="34" charset="-120"/>
              </a:rPr>
              <a:t>신뢰구간</a:t>
            </a:r>
            <a:endParaRPr lang="en-US" altLang="ko-KR" sz="1400">
              <a:latin typeface="Microsoft JhengHei" panose="020B0604030504040204" pitchFamily="34" charset="-120"/>
            </a:endParaRPr>
          </a:p>
          <a:p>
            <a:pPr marL="285750" indent="-285750">
              <a:lnSpc>
                <a:spcPct val="114000"/>
              </a:lnSpc>
              <a:buFont typeface="Arial" panose="020B0604020202020204" pitchFamily="34" charset="0"/>
              <a:buChar char="•"/>
            </a:pPr>
            <a:r>
              <a:rPr lang="ko-KR" altLang="en-US" sz="1400" b="1">
                <a:latin typeface="Microsoft JhengHei" panose="020B0604030504040204" pitchFamily="34" charset="-120"/>
              </a:rPr>
              <a:t>다중 검정 보정 </a:t>
            </a:r>
            <a:r>
              <a:rPr lang="en-US" altLang="ko-KR" sz="1400">
                <a:latin typeface="Microsoft JhengHei" panose="020B0604030504040204" pitchFamily="34" charset="-120"/>
                <a:ea typeface="Microsoft JhengHei" panose="020B0604030504040204" pitchFamily="34" charset="-120"/>
              </a:rPr>
              <a:t>: </a:t>
            </a:r>
            <a:r>
              <a:rPr lang="en-US" altLang="ko-KR" sz="1400" u="sng">
                <a:latin typeface="Microsoft JhengHei" panose="020B0604030504040204" pitchFamily="34" charset="-120"/>
                <a:ea typeface="Microsoft JhengHei" panose="020B0604030504040204" pitchFamily="34" charset="-120"/>
              </a:rPr>
              <a:t>Benjamini–Hochberg FDR correction </a:t>
            </a:r>
            <a:r>
              <a:rPr lang="en-US" altLang="ko-KR" sz="1400">
                <a:latin typeface="Microsoft JhengHei" panose="020B0604030504040204" pitchFamily="34" charset="-120"/>
                <a:ea typeface="Microsoft JhengHei" panose="020B0604030504040204" pitchFamily="34" charset="-120"/>
              </a:rPr>
              <a:t>– </a:t>
            </a:r>
            <a:r>
              <a:rPr lang="ko-KR" altLang="en-US" sz="1400">
                <a:latin typeface="Microsoft JhengHei" panose="020B0604030504040204" pitchFamily="34" charset="-120"/>
              </a:rPr>
              <a:t>기준은 </a:t>
            </a:r>
            <a:r>
              <a:rPr lang="en-US" altLang="ko-KR" sz="1400">
                <a:latin typeface="Microsoft JhengHei" panose="020B0604030504040204" pitchFamily="34" charset="-120"/>
                <a:ea typeface="Microsoft JhengHei" panose="020B0604030504040204" pitchFamily="34" charset="-120"/>
              </a:rPr>
              <a:t>df1, df2</a:t>
            </a:r>
            <a:r>
              <a:rPr lang="ko-KR" altLang="en-US" sz="1400">
                <a:latin typeface="Microsoft JhengHei" panose="020B0604030504040204" pitchFamily="34" charset="-120"/>
                <a:ea typeface="Microsoft JhengHei" panose="020B0604030504040204" pitchFamily="34" charset="-120"/>
              </a:rPr>
              <a:t>별로 </a:t>
            </a:r>
            <a:endParaRPr lang="en-US" altLang="ko-KR" sz="1400">
              <a:latin typeface="Microsoft JhengHei" panose="020B0604030504040204" pitchFamily="34" charset="-120"/>
            </a:endParaRPr>
          </a:p>
          <a:p>
            <a:pPr marL="285750" indent="-285750">
              <a:lnSpc>
                <a:spcPct val="114000"/>
              </a:lnSpc>
              <a:buFont typeface="Arial" panose="020B0604020202020204" pitchFamily="34" charset="0"/>
              <a:buChar char="•"/>
            </a:pPr>
            <a:r>
              <a:rPr lang="ko-KR" altLang="en-US" sz="1400" b="1">
                <a:latin typeface="Microsoft JhengHei" panose="020B0604030504040204" pitchFamily="34" charset="-120"/>
              </a:rPr>
              <a:t>공변량 통제</a:t>
            </a:r>
            <a:r>
              <a:rPr lang="en-US" altLang="ko-KR" sz="1400">
                <a:latin typeface="Microsoft JhengHei" panose="020B0604030504040204" pitchFamily="34" charset="-120"/>
                <a:ea typeface="Microsoft JhengHei" panose="020B0604030504040204" pitchFamily="34" charset="-120"/>
              </a:rPr>
              <a:t>: PC1</a:t>
            </a:r>
            <a:r>
              <a:rPr lang="ko-KR" altLang="en-US" sz="1400">
                <a:latin typeface="Microsoft JhengHei" panose="020B0604030504040204" pitchFamily="34" charset="-120"/>
                <a:ea typeface="Microsoft JhengHei" panose="020B0604030504040204" pitchFamily="34" charset="-120"/>
              </a:rPr>
              <a:t>과 </a:t>
            </a:r>
            <a:r>
              <a:rPr lang="en-US" altLang="ko-KR" sz="1400">
                <a:latin typeface="Microsoft JhengHei" panose="020B0604030504040204" pitchFamily="34" charset="-120"/>
                <a:ea typeface="Microsoft JhengHei" panose="020B0604030504040204" pitchFamily="34" charset="-120"/>
              </a:rPr>
              <a:t>Age </a:t>
            </a:r>
            <a:r>
              <a:rPr lang="ko-KR" altLang="en-US" sz="1400">
                <a:latin typeface="Microsoft JhengHei" panose="020B0604030504040204" pitchFamily="34" charset="-120"/>
                <a:ea typeface="Microsoft JhengHei" panose="020B0604030504040204" pitchFamily="34" charset="-120"/>
              </a:rPr>
              <a:t>사이 </a:t>
            </a:r>
            <a:r>
              <a:rPr lang="en-US" altLang="ko-KR" sz="1400">
                <a:latin typeface="Microsoft JhengHei" panose="020B0604030504040204" pitchFamily="34" charset="-120"/>
                <a:ea typeface="Microsoft JhengHei" panose="020B0604030504040204" pitchFamily="34" charset="-120"/>
              </a:rPr>
              <a:t>correlation </a:t>
            </a:r>
            <a:r>
              <a:rPr lang="ko-KR" altLang="en-US" sz="1400">
                <a:latin typeface="Microsoft JhengHei" panose="020B0604030504040204" pitchFamily="34" charset="-120"/>
                <a:ea typeface="Microsoft JhengHei" panose="020B0604030504040204" pitchFamily="34" charset="-120"/>
              </a:rPr>
              <a:t>분석 진행시 공변량 통제 </a:t>
            </a:r>
            <a:r>
              <a:rPr lang="en-US" altLang="ko-KR" sz="1400">
                <a:latin typeface="Microsoft JhengHei" panose="020B0604030504040204" pitchFamily="34" charset="-120"/>
                <a:ea typeface="Microsoft JhengHei" panose="020B0604030504040204" pitchFamily="34" charset="-120"/>
              </a:rPr>
              <a:t>(BMI, Sex)</a:t>
            </a:r>
          </a:p>
          <a:p>
            <a:pPr marL="285750" indent="-285750">
              <a:lnSpc>
                <a:spcPct val="114000"/>
              </a:lnSpc>
              <a:buFont typeface="Arial" panose="020B0604020202020204" pitchFamily="34" charset="0"/>
              <a:buChar char="•"/>
            </a:pPr>
            <a:endParaRPr lang="en-US" altLang="ko-KR" sz="1400">
              <a:latin typeface="Microsoft JhengHei" panose="020B0604030504040204" pitchFamily="34" charset="-120"/>
            </a:endParaRPr>
          </a:p>
        </p:txBody>
      </p:sp>
      <p:pic>
        <p:nvPicPr>
          <p:cNvPr id="8" name="그림 7">
            <a:extLst>
              <a:ext uri="{FF2B5EF4-FFF2-40B4-BE49-F238E27FC236}">
                <a16:creationId xmlns:a16="http://schemas.microsoft.com/office/drawing/2014/main" id="{5A549455-E924-4862-843D-DD62B9AF4AF8}"/>
              </a:ext>
            </a:extLst>
          </p:cNvPr>
          <p:cNvPicPr>
            <a:picLocks noChangeAspect="1"/>
          </p:cNvPicPr>
          <p:nvPr/>
        </p:nvPicPr>
        <p:blipFill>
          <a:blip r:embed="rId3"/>
          <a:stretch>
            <a:fillRect/>
          </a:stretch>
        </p:blipFill>
        <p:spPr>
          <a:xfrm>
            <a:off x="2750093" y="1729552"/>
            <a:ext cx="6560961" cy="2719056"/>
          </a:xfrm>
          <a:prstGeom prst="rect">
            <a:avLst/>
          </a:prstGeom>
          <a:ln>
            <a:solidFill>
              <a:schemeClr val="tx1"/>
            </a:solidFill>
          </a:ln>
        </p:spPr>
      </p:pic>
    </p:spTree>
    <p:extLst>
      <p:ext uri="{BB962C8B-B14F-4D97-AF65-F5344CB8AC3E}">
        <p14:creationId xmlns:p14="http://schemas.microsoft.com/office/powerpoint/2010/main" val="2466073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A6449C-CA84-4F3A-8504-DC9A6E4BBA91}"/>
              </a:ext>
            </a:extLst>
          </p:cNvPr>
          <p:cNvSpPr>
            <a:spLocks noGrp="1"/>
          </p:cNvSpPr>
          <p:nvPr>
            <p:ph type="title"/>
          </p:nvPr>
        </p:nvSpPr>
        <p:spPr>
          <a:xfrm>
            <a:off x="0" y="0"/>
            <a:ext cx="6282466" cy="1049867"/>
          </a:xfrm>
        </p:spPr>
        <p:txBody>
          <a:bodyPr>
            <a:normAutofit/>
          </a:bodyPr>
          <a:lstStyle/>
          <a:p>
            <a:r>
              <a:rPr lang="en-US" altLang="ko-KR" sz="2800">
                <a:latin typeface="프리젠테이션 6 SemiBold" pitchFamily="2" charset="-127"/>
                <a:ea typeface="프리젠테이션 6 SemiBold" pitchFamily="2" charset="-127"/>
              </a:rPr>
              <a:t>4. Bubble matrix (PC1 vs PC1 analysis)</a:t>
            </a:r>
            <a:endParaRPr lang="ko-KR" altLang="en-US" sz="2800">
              <a:latin typeface="프리젠테이션 6 SemiBold" pitchFamily="2" charset="-127"/>
              <a:ea typeface="프리젠테이션 6 SemiBold" pitchFamily="2" charset="-127"/>
            </a:endParaRPr>
          </a:p>
        </p:txBody>
      </p:sp>
      <p:pic>
        <p:nvPicPr>
          <p:cNvPr id="3" name="그림 2">
            <a:extLst>
              <a:ext uri="{FF2B5EF4-FFF2-40B4-BE49-F238E27FC236}">
                <a16:creationId xmlns:a16="http://schemas.microsoft.com/office/drawing/2014/main" id="{06392DF3-325E-4A5B-8D32-C1032E399E44}"/>
              </a:ext>
            </a:extLst>
          </p:cNvPr>
          <p:cNvPicPr>
            <a:picLocks noChangeAspect="1"/>
          </p:cNvPicPr>
          <p:nvPr/>
        </p:nvPicPr>
        <p:blipFill>
          <a:blip r:embed="rId3"/>
          <a:stretch>
            <a:fillRect/>
          </a:stretch>
        </p:blipFill>
        <p:spPr>
          <a:xfrm>
            <a:off x="5395371" y="880265"/>
            <a:ext cx="6796629" cy="2548735"/>
          </a:xfrm>
          <a:prstGeom prst="rect">
            <a:avLst/>
          </a:prstGeom>
        </p:spPr>
      </p:pic>
      <p:pic>
        <p:nvPicPr>
          <p:cNvPr id="4" name="그림 3">
            <a:extLst>
              <a:ext uri="{FF2B5EF4-FFF2-40B4-BE49-F238E27FC236}">
                <a16:creationId xmlns:a16="http://schemas.microsoft.com/office/drawing/2014/main" id="{ADC062EC-0A48-4FE6-B860-7CC1B5B752E1}"/>
              </a:ext>
            </a:extLst>
          </p:cNvPr>
          <p:cNvPicPr>
            <a:picLocks noChangeAspect="1"/>
          </p:cNvPicPr>
          <p:nvPr/>
        </p:nvPicPr>
        <p:blipFill>
          <a:blip r:embed="rId4"/>
          <a:stretch>
            <a:fillRect/>
          </a:stretch>
        </p:blipFill>
        <p:spPr>
          <a:xfrm>
            <a:off x="309385" y="1039930"/>
            <a:ext cx="4953927" cy="2017527"/>
          </a:xfrm>
          <a:prstGeom prst="rect">
            <a:avLst/>
          </a:prstGeom>
        </p:spPr>
      </p:pic>
      <p:sp>
        <p:nvSpPr>
          <p:cNvPr id="5" name="직사각형 4">
            <a:extLst>
              <a:ext uri="{FF2B5EF4-FFF2-40B4-BE49-F238E27FC236}">
                <a16:creationId xmlns:a16="http://schemas.microsoft.com/office/drawing/2014/main" id="{FAA287E3-F2EA-4A3D-9A8A-8F8F22124252}"/>
              </a:ext>
            </a:extLst>
          </p:cNvPr>
          <p:cNvSpPr/>
          <p:nvPr/>
        </p:nvSpPr>
        <p:spPr>
          <a:xfrm>
            <a:off x="1034213" y="3647545"/>
            <a:ext cx="10333462" cy="2314864"/>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400">
                <a:latin typeface="Microsoft JhengHei" panose="020B0604030504040204" pitchFamily="34" charset="-120"/>
              </a:rPr>
              <a:t> </a:t>
            </a:r>
            <a:r>
              <a:rPr lang="en-US" altLang="ko-KR" sz="1400">
                <a:latin typeface="Microsoft JhengHei" panose="020B0604030504040204" pitchFamily="34" charset="-120"/>
                <a:ea typeface="Microsoft JhengHei" panose="020B0604030504040204" pitchFamily="34" charset="-120"/>
              </a:rPr>
              <a:t>X_group</a:t>
            </a:r>
            <a:r>
              <a:rPr lang="ko-KR" altLang="en-US" sz="1400">
                <a:latin typeface="Microsoft JhengHei" panose="020B0604030504040204" pitchFamily="34" charset="-120"/>
              </a:rPr>
              <a:t>의 </a:t>
            </a:r>
            <a:r>
              <a:rPr lang="en-US" altLang="ko-KR" sz="1400">
                <a:latin typeface="Microsoft JhengHei" panose="020B0604030504040204" pitchFamily="34" charset="-120"/>
                <a:ea typeface="Microsoft JhengHei" panose="020B0604030504040204" pitchFamily="34" charset="-120"/>
              </a:rPr>
              <a:t>PC1</a:t>
            </a:r>
            <a:r>
              <a:rPr lang="ko-KR" altLang="en-US" sz="1400">
                <a:latin typeface="Microsoft JhengHei" panose="020B0604030504040204" pitchFamily="34" charset="-120"/>
              </a:rPr>
              <a:t>과  </a:t>
            </a:r>
            <a:r>
              <a:rPr lang="en-US" altLang="ko-KR" sz="1400">
                <a:latin typeface="Microsoft JhengHei" panose="020B0604030504040204" pitchFamily="34" charset="-120"/>
                <a:ea typeface="Microsoft JhengHei" panose="020B0604030504040204" pitchFamily="34" charset="-120"/>
              </a:rPr>
              <a:t>Z_group</a:t>
            </a:r>
            <a:r>
              <a:rPr lang="ko-KR" altLang="en-US" sz="1400">
                <a:latin typeface="Microsoft JhengHei" panose="020B0604030504040204" pitchFamily="34" charset="-120"/>
              </a:rPr>
              <a:t>의 </a:t>
            </a:r>
            <a:r>
              <a:rPr lang="en-US" altLang="ko-KR" sz="1400">
                <a:latin typeface="Microsoft JhengHei" panose="020B0604030504040204" pitchFamily="34" charset="-120"/>
                <a:ea typeface="Microsoft JhengHei" panose="020B0604030504040204" pitchFamily="34" charset="-120"/>
              </a:rPr>
              <a:t>PC1 </a:t>
            </a:r>
            <a:r>
              <a:rPr lang="ko-KR" altLang="en-US" sz="1400">
                <a:latin typeface="Microsoft JhengHei" panose="020B0604030504040204" pitchFamily="34" charset="-120"/>
              </a:rPr>
              <a:t>사이의 </a:t>
            </a:r>
            <a:r>
              <a:rPr lang="en-US" altLang="ko-KR" sz="1400">
                <a:latin typeface="Microsoft JhengHei" panose="020B0604030504040204" pitchFamily="34" charset="-120"/>
                <a:ea typeface="Microsoft JhengHei" panose="020B0604030504040204" pitchFamily="34" charset="-120"/>
              </a:rPr>
              <a:t>partial Spearman correlation </a:t>
            </a:r>
            <a:r>
              <a:rPr lang="ko-KR" altLang="en-US" sz="1400">
                <a:latin typeface="Microsoft JhengHei" panose="020B0604030504040204" pitchFamily="34" charset="-120"/>
              </a:rPr>
              <a:t>결과</a:t>
            </a:r>
            <a:endParaRPr lang="en-US" altLang="ko-KR" sz="1400">
              <a:latin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a:latin typeface="Microsoft JhengHei" panose="020B0604030504040204" pitchFamily="34" charset="-120"/>
              </a:rPr>
              <a:t>원 안의 숫자</a:t>
            </a:r>
            <a:r>
              <a:rPr lang="en-US" altLang="ko-KR" sz="1400">
                <a:latin typeface="Microsoft JhengHei" panose="020B0604030504040204" pitchFamily="34" charset="-120"/>
              </a:rPr>
              <a:t>: partial Spearman correlation coefficient (r), </a:t>
            </a:r>
            <a:r>
              <a:rPr lang="ko-KR" altLang="en-US" sz="1400">
                <a:latin typeface="Microsoft JhengHei" panose="020B0604030504040204" pitchFamily="34" charset="-120"/>
              </a:rPr>
              <a:t>원이 클수록 </a:t>
            </a:r>
            <a:r>
              <a:rPr lang="en-US" altLang="ko-KR" sz="1400">
                <a:latin typeface="Microsoft JhengHei" panose="020B0604030504040204" pitchFamily="34" charset="-120"/>
              </a:rPr>
              <a:t>p-value</a:t>
            </a:r>
            <a:r>
              <a:rPr lang="ko-KR" altLang="en-US" sz="1400">
                <a:latin typeface="Microsoft JhengHei" panose="020B0604030504040204" pitchFamily="34" charset="-120"/>
              </a:rPr>
              <a:t>가 작음</a:t>
            </a:r>
            <a:endParaRPr lang="en-US" altLang="ko-KR" sz="1400">
              <a:latin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a:latin typeface="Microsoft JhengHei" panose="020B0604030504040204" pitchFamily="34" charset="-120"/>
              </a:rPr>
              <a:t>원의 색은 절댓값을 반영했기에 색이 진할수록 절댓값 상관계수가 큼</a:t>
            </a:r>
            <a:endParaRPr lang="en-US" altLang="ko-KR" sz="1400">
              <a:latin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a:latin typeface="Microsoft JhengHei" panose="020B0604030504040204" pitchFamily="34" charset="-120"/>
              </a:rPr>
              <a:t>공변량 통제</a:t>
            </a:r>
            <a:r>
              <a:rPr lang="en-US" altLang="ko-KR" sz="1400">
                <a:latin typeface="Microsoft JhengHei" panose="020B0604030504040204" pitchFamily="34" charset="-120"/>
              </a:rPr>
              <a:t>: Sex, Age</a:t>
            </a:r>
          </a:p>
          <a:p>
            <a:pPr marL="285750" indent="-285750">
              <a:lnSpc>
                <a:spcPct val="150000"/>
              </a:lnSpc>
              <a:buFont typeface="Arial" panose="020B0604020202020204" pitchFamily="34" charset="0"/>
              <a:buChar char="•"/>
            </a:pPr>
            <a:r>
              <a:rPr lang="ko-KR" altLang="en-US" sz="1400">
                <a:latin typeface="Microsoft JhengHei" panose="020B0604030504040204" pitchFamily="34" charset="-120"/>
                <a:ea typeface="Microsoft JhengHei" panose="020B0604030504040204" pitchFamily="34" charset="-120"/>
              </a:rPr>
              <a:t>다중검정 보정 </a:t>
            </a:r>
            <a:r>
              <a:rPr lang="en-US" altLang="ko-KR" sz="1400" u="sng">
                <a:latin typeface="Microsoft JhengHei" panose="020B0604030504040204" pitchFamily="34" charset="-120"/>
                <a:ea typeface="Microsoft JhengHei" panose="020B0604030504040204" pitchFamily="34" charset="-120"/>
              </a:rPr>
              <a:t>: Benjamini–Hochberg FDR correction (X_group</a:t>
            </a:r>
            <a:r>
              <a:rPr lang="ko-KR" altLang="en-US" sz="1400" u="sng">
                <a:latin typeface="Microsoft JhengHei" panose="020B0604030504040204" pitchFamily="34" charset="-120"/>
                <a:ea typeface="Microsoft JhengHei" panose="020B0604030504040204" pitchFamily="34" charset="-120"/>
              </a:rPr>
              <a:t> 기준으로</a:t>
            </a:r>
            <a:r>
              <a:rPr lang="en-US" altLang="ko-KR" sz="1400" u="sng">
                <a:latin typeface="Microsoft JhengHei" panose="020B0604030504040204" pitchFamily="34" charset="-120"/>
                <a:ea typeface="Microsoft JhengHei" panose="020B0604030504040204" pitchFamily="34" charset="-120"/>
              </a:rPr>
              <a:t>)</a:t>
            </a:r>
            <a:endParaRPr lang="en-US" altLang="ko-KR" sz="1400">
              <a:latin typeface="Microsoft JhengHei" panose="020B0604030504040204" pitchFamily="34" charset="-120"/>
            </a:endParaRPr>
          </a:p>
          <a:p>
            <a:pPr marL="285750" indent="-285750">
              <a:lnSpc>
                <a:spcPct val="150000"/>
              </a:lnSpc>
              <a:buFont typeface="Arial" panose="020B0604020202020204" pitchFamily="34" charset="0"/>
              <a:buChar char="•"/>
            </a:pPr>
            <a:r>
              <a:rPr lang="en-US" altLang="ko-KR" sz="1400">
                <a:latin typeface="Microsoft JhengHei" panose="020B0604030504040204" pitchFamily="34" charset="-120"/>
              </a:rPr>
              <a:t> ** : </a:t>
            </a:r>
            <a:r>
              <a:rPr lang="ko-KR" altLang="en-US" sz="1400">
                <a:latin typeface="Microsoft JhengHei" panose="020B0604030504040204" pitchFamily="34" charset="-120"/>
              </a:rPr>
              <a:t>다중보정 후 </a:t>
            </a:r>
            <a:r>
              <a:rPr lang="en-US" altLang="ko-KR" sz="1400">
                <a:latin typeface="Microsoft JhengHei" panose="020B0604030504040204" pitchFamily="34" charset="-120"/>
              </a:rPr>
              <a:t>q&lt; 0.05</a:t>
            </a:r>
          </a:p>
          <a:p>
            <a:pPr marL="285750" indent="-285750">
              <a:lnSpc>
                <a:spcPct val="150000"/>
              </a:lnSpc>
              <a:buFont typeface="Arial" panose="020B0604020202020204" pitchFamily="34" charset="0"/>
              <a:buChar char="•"/>
            </a:pPr>
            <a:r>
              <a:rPr lang="en-US" altLang="ko-KR" sz="1400">
                <a:latin typeface="Microsoft JhengHei" panose="020B0604030504040204" pitchFamily="34" charset="-120"/>
              </a:rPr>
              <a:t>*: 0.05&lt;q&lt;0.1</a:t>
            </a:r>
            <a:endParaRPr lang="ko-KR" altLang="en-US" sz="1400">
              <a:latin typeface="Microsoft JhengHei" panose="020B0604030504040204" pitchFamily="34" charset="-120"/>
            </a:endParaRPr>
          </a:p>
        </p:txBody>
      </p:sp>
    </p:spTree>
    <p:extLst>
      <p:ext uri="{BB962C8B-B14F-4D97-AF65-F5344CB8AC3E}">
        <p14:creationId xmlns:p14="http://schemas.microsoft.com/office/powerpoint/2010/main" val="3052768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A6449C-CA84-4F3A-8504-DC9A6E4BBA91}"/>
              </a:ext>
            </a:extLst>
          </p:cNvPr>
          <p:cNvSpPr>
            <a:spLocks noGrp="1"/>
          </p:cNvSpPr>
          <p:nvPr>
            <p:ph type="title"/>
          </p:nvPr>
        </p:nvSpPr>
        <p:spPr>
          <a:xfrm>
            <a:off x="-1" y="0"/>
            <a:ext cx="11672047" cy="1049867"/>
          </a:xfrm>
        </p:spPr>
        <p:txBody>
          <a:bodyPr>
            <a:normAutofit/>
          </a:bodyPr>
          <a:lstStyle/>
          <a:p>
            <a:r>
              <a:rPr lang="en-US" altLang="ko-KR" sz="2800">
                <a:latin typeface="프리젠테이션 6 SemiBold" pitchFamily="2" charset="-127"/>
                <a:ea typeface="프리젠테이션 6 SemiBold" pitchFamily="2" charset="-127"/>
              </a:rPr>
              <a:t>4-1. 1:1 partial correlation analysis – Liver1 vs ConvT</a:t>
            </a:r>
            <a:endParaRPr lang="ko-KR" altLang="en-US" sz="2800">
              <a:latin typeface="프리젠테이션 6 SemiBold" pitchFamily="2" charset="-127"/>
              <a:ea typeface="프리젠테이션 6 SemiBold" pitchFamily="2" charset="-127"/>
            </a:endParaRPr>
          </a:p>
        </p:txBody>
      </p:sp>
      <p:pic>
        <p:nvPicPr>
          <p:cNvPr id="3" name="그림 2">
            <a:extLst>
              <a:ext uri="{FF2B5EF4-FFF2-40B4-BE49-F238E27FC236}">
                <a16:creationId xmlns:a16="http://schemas.microsoft.com/office/drawing/2014/main" id="{3C4172C8-022B-4248-9F13-193DF4973F7A}"/>
              </a:ext>
            </a:extLst>
          </p:cNvPr>
          <p:cNvPicPr>
            <a:picLocks noChangeAspect="1"/>
          </p:cNvPicPr>
          <p:nvPr/>
        </p:nvPicPr>
        <p:blipFill>
          <a:blip r:embed="rId3"/>
          <a:stretch>
            <a:fillRect/>
          </a:stretch>
        </p:blipFill>
        <p:spPr>
          <a:xfrm>
            <a:off x="363837" y="1025912"/>
            <a:ext cx="9890594" cy="3299109"/>
          </a:xfrm>
          <a:prstGeom prst="rect">
            <a:avLst/>
          </a:prstGeom>
        </p:spPr>
      </p:pic>
      <p:sp>
        <p:nvSpPr>
          <p:cNvPr id="4" name="TextBox 3">
            <a:extLst>
              <a:ext uri="{FF2B5EF4-FFF2-40B4-BE49-F238E27FC236}">
                <a16:creationId xmlns:a16="http://schemas.microsoft.com/office/drawing/2014/main" id="{1FC884E9-B64E-47CE-A627-A2E98D2A9B60}"/>
              </a:ext>
            </a:extLst>
          </p:cNvPr>
          <p:cNvSpPr txBox="1"/>
          <p:nvPr/>
        </p:nvSpPr>
        <p:spPr>
          <a:xfrm>
            <a:off x="847756" y="4448878"/>
            <a:ext cx="11621845" cy="199169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ko-KR" sz="1400">
                <a:latin typeface="Microsoft JhengHei" panose="020B0604030504040204" pitchFamily="34" charset="-120"/>
                <a:sym typeface="Wingdings" panose="05000000000000000000" pitchFamily="2" charset="2"/>
              </a:rPr>
              <a:t>spearman</a:t>
            </a:r>
            <a:r>
              <a:rPr lang="ko-KR" altLang="en-US" sz="1400">
                <a:latin typeface="Microsoft JhengHei" panose="020B0604030504040204" pitchFamily="34" charset="-120"/>
                <a:sym typeface="Wingdings" panose="05000000000000000000" pitchFamily="2" charset="2"/>
              </a:rPr>
              <a:t>기법 사용한 </a:t>
            </a:r>
            <a:r>
              <a:rPr lang="en-US" altLang="ko-KR" sz="1400">
                <a:latin typeface="Microsoft JhengHei" panose="020B0604030504040204" pitchFamily="34" charset="-120"/>
                <a:sym typeface="Wingdings" panose="05000000000000000000" pitchFamily="2" charset="2"/>
              </a:rPr>
              <a:t>partial correlation bubble matrix </a:t>
            </a:r>
            <a:r>
              <a:rPr lang="ko-KR" altLang="en-US" sz="1400">
                <a:latin typeface="Microsoft JhengHei" panose="020B0604030504040204" pitchFamily="34" charset="-120"/>
                <a:sym typeface="Wingdings" panose="05000000000000000000" pitchFamily="2" charset="2"/>
              </a:rPr>
              <a:t>시각화</a:t>
            </a:r>
            <a:endParaRPr lang="en-US" altLang="ko-KR" sz="1400">
              <a:latin typeface="Microsoft JhengHei" panose="020B0604030504040204" pitchFamily="34" charset="-120"/>
              <a:sym typeface="Wingdings" panose="05000000000000000000" pitchFamily="2" charset="2"/>
            </a:endParaRPr>
          </a:p>
          <a:p>
            <a:pPr marL="285750" indent="-285750">
              <a:lnSpc>
                <a:spcPct val="150000"/>
              </a:lnSpc>
              <a:buFont typeface="Arial" panose="020B0604020202020204" pitchFamily="34" charset="0"/>
              <a:buChar char="•"/>
            </a:pPr>
            <a:r>
              <a:rPr lang="ko-KR" altLang="en-US" sz="1400">
                <a:latin typeface="Microsoft JhengHei" panose="020B0604030504040204" pitchFamily="34" charset="-120"/>
              </a:rPr>
              <a:t>공변량 통제</a:t>
            </a:r>
            <a:r>
              <a:rPr lang="en-US" altLang="ko-KR" sz="1400">
                <a:latin typeface="Microsoft JhengHei" panose="020B0604030504040204" pitchFamily="34" charset="-120"/>
              </a:rPr>
              <a:t>: Sex, Age</a:t>
            </a:r>
          </a:p>
          <a:p>
            <a:pPr marL="285750" indent="-285750">
              <a:lnSpc>
                <a:spcPct val="150000"/>
              </a:lnSpc>
              <a:buFont typeface="Arial" panose="020B0604020202020204" pitchFamily="34" charset="0"/>
              <a:buChar char="•"/>
            </a:pPr>
            <a:r>
              <a:rPr lang="ko-KR" altLang="en-US" sz="1400">
                <a:latin typeface="Microsoft JhengHei" panose="020B0604030504040204" pitchFamily="34" charset="-120"/>
              </a:rPr>
              <a:t>원 크기</a:t>
            </a:r>
            <a:r>
              <a:rPr lang="en-US" altLang="ko-KR" sz="1400">
                <a:latin typeface="Microsoft JhengHei" panose="020B0604030504040204" pitchFamily="34" charset="-120"/>
                <a:ea typeface="Microsoft JhengHei" panose="020B0604030504040204" pitchFamily="34" charset="-120"/>
              </a:rPr>
              <a:t>: p-value</a:t>
            </a:r>
            <a:r>
              <a:rPr lang="ko-KR" altLang="en-US" sz="1400">
                <a:latin typeface="Microsoft JhengHei" panose="020B0604030504040204" pitchFamily="34" charset="-120"/>
              </a:rPr>
              <a:t>가 작을수록 크기가 작음</a:t>
            </a:r>
            <a:endParaRPr lang="en-US" altLang="ko-KR" sz="1400">
              <a:latin typeface="Microsoft JhengHei" panose="020B0604030504040204" pitchFamily="34" charset="-120"/>
            </a:endParaRPr>
          </a:p>
          <a:p>
            <a:pPr marL="285750" indent="-285750">
              <a:lnSpc>
                <a:spcPct val="150000"/>
              </a:lnSpc>
              <a:buFont typeface="Arial" panose="020B0604020202020204" pitchFamily="34" charset="0"/>
              <a:buChar char="•"/>
            </a:pPr>
            <a:r>
              <a:rPr lang="ko-KR" altLang="en-US" sz="1400">
                <a:latin typeface="Microsoft JhengHei" panose="020B0604030504040204" pitchFamily="34" charset="-120"/>
                <a:ea typeface="Microsoft JhengHei" panose="020B0604030504040204" pitchFamily="34" charset="-120"/>
              </a:rPr>
              <a:t>다중검정 보정 </a:t>
            </a:r>
            <a:r>
              <a:rPr lang="en-US" altLang="ko-KR" sz="1400" u="sng">
                <a:latin typeface="Microsoft JhengHei" panose="020B0604030504040204" pitchFamily="34" charset="-120"/>
                <a:ea typeface="Microsoft JhengHei" panose="020B0604030504040204" pitchFamily="34" charset="-120"/>
              </a:rPr>
              <a:t>: Benjamini–Hochberg FDR correction (Liver1 </a:t>
            </a:r>
            <a:r>
              <a:rPr lang="ko-KR" altLang="en-US" sz="1400" u="sng">
                <a:latin typeface="Microsoft JhengHei" panose="020B0604030504040204" pitchFamily="34" charset="-120"/>
                <a:ea typeface="Microsoft JhengHei" panose="020B0604030504040204" pitchFamily="34" charset="-120"/>
              </a:rPr>
              <a:t>기준으로</a:t>
            </a:r>
            <a:r>
              <a:rPr lang="en-US" altLang="ko-KR" sz="1400" u="sng">
                <a:latin typeface="Microsoft JhengHei" panose="020B0604030504040204" pitchFamily="34" charset="-120"/>
                <a:ea typeface="Microsoft JhengHei" panose="020B0604030504040204" pitchFamily="34" charset="-120"/>
              </a:rPr>
              <a:t>)</a:t>
            </a:r>
            <a:endParaRPr lang="en-US" altLang="ko-KR" sz="1400">
              <a:latin typeface="Microsoft JhengHei" panose="020B0604030504040204" pitchFamily="34" charset="-120"/>
              <a:ea typeface="Microsoft JhengHei" panose="020B0604030504040204" pitchFamily="34" charset="-120"/>
            </a:endParaRPr>
          </a:p>
          <a:p>
            <a:pPr marL="285750" indent="-285750">
              <a:lnSpc>
                <a:spcPct val="150000"/>
              </a:lnSpc>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 * : 0.05 &lt; q &lt; 0.1 </a:t>
            </a:r>
          </a:p>
          <a:p>
            <a:pPr marL="285750" indent="-285750">
              <a:lnSpc>
                <a:spcPct val="150000"/>
              </a:lnSpc>
              <a:buFont typeface="Arial" panose="020B0604020202020204" pitchFamily="34" charset="0"/>
              <a:buChar char="•"/>
            </a:pPr>
            <a:r>
              <a:rPr lang="en-US" altLang="ko-KR" sz="1400">
                <a:latin typeface="Microsoft JhengHei" panose="020B0604030504040204" pitchFamily="34" charset="-120"/>
                <a:ea typeface="Microsoft JhengHei" panose="020B0604030504040204" pitchFamily="34" charset="-120"/>
              </a:rPr>
              <a:t>**: q &lt; 0.05</a:t>
            </a:r>
          </a:p>
        </p:txBody>
      </p:sp>
    </p:spTree>
    <p:extLst>
      <p:ext uri="{BB962C8B-B14F-4D97-AF65-F5344CB8AC3E}">
        <p14:creationId xmlns:p14="http://schemas.microsoft.com/office/powerpoint/2010/main" val="2694893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7A6449C-CA84-4F3A-8504-DC9A6E4BBA91}"/>
              </a:ext>
            </a:extLst>
          </p:cNvPr>
          <p:cNvSpPr>
            <a:spLocks noGrp="1"/>
          </p:cNvSpPr>
          <p:nvPr>
            <p:ph type="title"/>
          </p:nvPr>
        </p:nvSpPr>
        <p:spPr>
          <a:xfrm>
            <a:off x="-1" y="0"/>
            <a:ext cx="11672047" cy="1049867"/>
          </a:xfrm>
        </p:spPr>
        <p:txBody>
          <a:bodyPr>
            <a:normAutofit/>
          </a:bodyPr>
          <a:lstStyle/>
          <a:p>
            <a:r>
              <a:rPr lang="en-US" altLang="ko-KR" sz="2800">
                <a:latin typeface="프리젠테이션 6 SemiBold" pitchFamily="2" charset="-127"/>
                <a:ea typeface="프리젠테이션 6 SemiBold" pitchFamily="2" charset="-127"/>
              </a:rPr>
              <a:t>4-2. 1:1 partial ccorrelation analysis – B vs Kindney1</a:t>
            </a:r>
            <a:endParaRPr lang="ko-KR" altLang="en-US" sz="2800">
              <a:latin typeface="프리젠테이션 6 SemiBold" pitchFamily="2" charset="-127"/>
              <a:ea typeface="프리젠테이션 6 SemiBold" pitchFamily="2" charset="-127"/>
            </a:endParaRPr>
          </a:p>
        </p:txBody>
      </p:sp>
      <p:pic>
        <p:nvPicPr>
          <p:cNvPr id="3" name="그림 2">
            <a:extLst>
              <a:ext uri="{FF2B5EF4-FFF2-40B4-BE49-F238E27FC236}">
                <a16:creationId xmlns:a16="http://schemas.microsoft.com/office/drawing/2014/main" id="{A95C1EE9-63FC-4F9D-8800-468A6B6054BE}"/>
              </a:ext>
            </a:extLst>
          </p:cNvPr>
          <p:cNvPicPr>
            <a:picLocks noChangeAspect="1"/>
          </p:cNvPicPr>
          <p:nvPr/>
        </p:nvPicPr>
        <p:blipFill>
          <a:blip r:embed="rId3"/>
          <a:stretch>
            <a:fillRect/>
          </a:stretch>
        </p:blipFill>
        <p:spPr>
          <a:xfrm>
            <a:off x="204395" y="1043820"/>
            <a:ext cx="8002521" cy="2385180"/>
          </a:xfrm>
          <a:prstGeom prst="rect">
            <a:avLst/>
          </a:prstGeom>
        </p:spPr>
      </p:pic>
      <p:pic>
        <p:nvPicPr>
          <p:cNvPr id="4" name="그림 3">
            <a:extLst>
              <a:ext uri="{FF2B5EF4-FFF2-40B4-BE49-F238E27FC236}">
                <a16:creationId xmlns:a16="http://schemas.microsoft.com/office/drawing/2014/main" id="{8B983E9B-2692-4CF1-8E68-8278BE43FE5E}"/>
              </a:ext>
            </a:extLst>
          </p:cNvPr>
          <p:cNvPicPr>
            <a:picLocks noChangeAspect="1"/>
          </p:cNvPicPr>
          <p:nvPr/>
        </p:nvPicPr>
        <p:blipFill>
          <a:blip r:embed="rId4"/>
          <a:stretch>
            <a:fillRect/>
          </a:stretch>
        </p:blipFill>
        <p:spPr>
          <a:xfrm>
            <a:off x="8299330" y="1277799"/>
            <a:ext cx="3509854" cy="2151201"/>
          </a:xfrm>
          <a:prstGeom prst="rect">
            <a:avLst/>
          </a:prstGeom>
        </p:spPr>
      </p:pic>
      <p:pic>
        <p:nvPicPr>
          <p:cNvPr id="5" name="그림 4">
            <a:extLst>
              <a:ext uri="{FF2B5EF4-FFF2-40B4-BE49-F238E27FC236}">
                <a16:creationId xmlns:a16="http://schemas.microsoft.com/office/drawing/2014/main" id="{9A7B937E-67F3-436A-B84D-DC28A4D3E01A}"/>
              </a:ext>
            </a:extLst>
          </p:cNvPr>
          <p:cNvPicPr>
            <a:picLocks noChangeAspect="1"/>
          </p:cNvPicPr>
          <p:nvPr/>
        </p:nvPicPr>
        <p:blipFill>
          <a:blip r:embed="rId5"/>
          <a:stretch>
            <a:fillRect/>
          </a:stretch>
        </p:blipFill>
        <p:spPr>
          <a:xfrm>
            <a:off x="592852" y="4967513"/>
            <a:ext cx="6096000" cy="1693334"/>
          </a:xfrm>
          <a:prstGeom prst="rect">
            <a:avLst/>
          </a:prstGeom>
        </p:spPr>
      </p:pic>
      <p:sp>
        <p:nvSpPr>
          <p:cNvPr id="6" name="TextBox 5">
            <a:extLst>
              <a:ext uri="{FF2B5EF4-FFF2-40B4-BE49-F238E27FC236}">
                <a16:creationId xmlns:a16="http://schemas.microsoft.com/office/drawing/2014/main" id="{DC95B661-3938-4FE0-86C8-6F83641A303B}"/>
              </a:ext>
            </a:extLst>
          </p:cNvPr>
          <p:cNvSpPr txBox="1"/>
          <p:nvPr/>
        </p:nvSpPr>
        <p:spPr>
          <a:xfrm>
            <a:off x="381793" y="3553013"/>
            <a:ext cx="11621845" cy="10627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ko-KR" altLang="en-US" sz="1400">
                <a:latin typeface="Microsoft JhengHei" panose="020B0604030504040204" pitchFamily="34" charset="-120"/>
                <a:ea typeface="Microsoft JhengHei" panose="020B0604030504040204" pitchFamily="34" charset="-120"/>
              </a:rPr>
              <a:t>다중검정 보정 </a:t>
            </a:r>
            <a:r>
              <a:rPr lang="en-US" altLang="ko-KR" sz="1400" u="sng">
                <a:latin typeface="Microsoft JhengHei" panose="020B0604030504040204" pitchFamily="34" charset="-120"/>
                <a:ea typeface="Microsoft JhengHei" panose="020B0604030504040204" pitchFamily="34" charset="-120"/>
              </a:rPr>
              <a:t>: Benjamini–Hochberg FDR correction (Kidney1</a:t>
            </a:r>
            <a:r>
              <a:rPr lang="ko-KR" altLang="en-US" sz="1400" u="sng">
                <a:latin typeface="Microsoft JhengHei" panose="020B0604030504040204" pitchFamily="34" charset="-120"/>
                <a:ea typeface="Microsoft JhengHei" panose="020B0604030504040204" pitchFamily="34" charset="-120"/>
              </a:rPr>
              <a:t> 기준으로</a:t>
            </a:r>
            <a:r>
              <a:rPr lang="en-US" altLang="ko-KR" sz="1400" u="sng">
                <a:latin typeface="Microsoft JhengHei" panose="020B0604030504040204" pitchFamily="34" charset="-120"/>
                <a:ea typeface="Microsoft JhengHei" panose="020B0604030504040204" pitchFamily="34" charset="-120"/>
              </a:rPr>
              <a:t>)</a:t>
            </a:r>
          </a:p>
          <a:p>
            <a:pPr marL="285750" indent="-285750">
              <a:lnSpc>
                <a:spcPct val="150000"/>
              </a:lnSpc>
              <a:buFont typeface="Arial" panose="020B0604020202020204" pitchFamily="34" charset="0"/>
              <a:buChar char="•"/>
            </a:pPr>
            <a:r>
              <a:rPr lang="ko-KR" altLang="en-US" sz="1400">
                <a:latin typeface="Microsoft JhengHei" panose="020B0604030504040204" pitchFamily="34" charset="-120"/>
              </a:rPr>
              <a:t>공변량 통제</a:t>
            </a:r>
            <a:r>
              <a:rPr lang="en-US" altLang="ko-KR" sz="1400">
                <a:latin typeface="Microsoft JhengHei" panose="020B0604030504040204" pitchFamily="34" charset="-120"/>
              </a:rPr>
              <a:t>: Sex, Age</a:t>
            </a:r>
          </a:p>
          <a:p>
            <a:pPr marL="285750" indent="-285750">
              <a:lnSpc>
                <a:spcPct val="150000"/>
              </a:lnSpc>
              <a:buFont typeface="Arial" panose="020B0604020202020204" pitchFamily="34" charset="0"/>
              <a:buChar char="•"/>
            </a:pPr>
            <a:endParaRPr lang="en-US" altLang="ko-KR" sz="160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427760992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2512</TotalTime>
  <Words>1304</Words>
  <Application>Microsoft Office PowerPoint</Application>
  <PresentationFormat>와이드스크린</PresentationFormat>
  <Paragraphs>110</Paragraphs>
  <Slides>8</Slides>
  <Notes>6</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8</vt:i4>
      </vt:variant>
    </vt:vector>
  </HeadingPairs>
  <TitlesOfParts>
    <vt:vector size="15" baseType="lpstr">
      <vt:lpstr>Microsoft JhengHei</vt:lpstr>
      <vt:lpstr>Microsoft YaHei</vt:lpstr>
      <vt:lpstr>맑은 고딕</vt:lpstr>
      <vt:lpstr>프리젠테이션 6 SemiBold</vt:lpstr>
      <vt:lpstr>Arial</vt:lpstr>
      <vt:lpstr>Wingdings</vt:lpstr>
      <vt:lpstr>Office 테마</vt:lpstr>
      <vt:lpstr>Main</vt:lpstr>
      <vt:lpstr>Method Details</vt:lpstr>
      <vt:lpstr> 1. Partial Least Squares Regression</vt:lpstr>
      <vt:lpstr>2. PC분석- Age vs B, T, Cd11c</vt:lpstr>
      <vt:lpstr>3. Partial correlation analysis(1:1)</vt:lpstr>
      <vt:lpstr>4. Bubble matrix (PC1 vs PC1 analysis)</vt:lpstr>
      <vt:lpstr>4-1. 1:1 partial correlation analysis – Liver1 vs ConvT</vt:lpstr>
      <vt:lpstr>4-2. 1:1 partial ccorrelation analysis – B vs Kindney1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details</dc:title>
  <dc:creator>nva_kist</dc:creator>
  <cp:lastModifiedBy>nva_kist</cp:lastModifiedBy>
  <cp:revision>158</cp:revision>
  <dcterms:created xsi:type="dcterms:W3CDTF">2026-04-07T09:27:32Z</dcterms:created>
  <dcterms:modified xsi:type="dcterms:W3CDTF">2026-04-13T08:41:06Z</dcterms:modified>
</cp:coreProperties>
</file>