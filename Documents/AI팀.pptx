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2196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74CE5-0E2F-4801-AB49-36192A34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65A91-634E-41E7-B632-2ECDBB9C4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ED260F-859B-45CC-AB0C-ACEE005B7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FAF6F0-E5B5-4695-8554-16C0C6EA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BE60C-132C-4A46-BFA5-6A31188E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70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B993D-8FA6-448E-AE7D-743AE07B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65F832-A608-4466-BA32-CBF44E4AB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243BE-C7F2-433B-8FD8-6159A457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89C1D-8B7E-4DBD-A5F0-DF5CB4FC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27F946-8E6A-4C81-9006-CE581749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67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58FD3-141C-4ED2-9E35-CE1C14218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747540-F407-48FD-B146-42DB22D40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4A94EB-4263-4C19-8719-5EAA9F7C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B8623D-90FB-4B73-B8DE-0763B732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EDB42-4B19-4B07-B38C-7B342FB6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6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85BBD0-149B-43FF-BFA9-DF263A07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E91297-E431-4537-A96C-C6A3A73BA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05A578-266C-4658-AD5F-8466BE86E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232BF-5B43-453F-9A02-86CF087C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0A7EF6-4BE9-4D03-B940-F0C4B2C3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D5F66D-7FE3-452D-BEB7-E299EFA4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94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09325-135A-457D-9D3C-D35F1C39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CBB998-6D26-4A46-9AB6-CCF424C07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CAE3D1-BE72-4A12-93DD-A33DF1D1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DE5838-9AE3-4951-B63A-C52590210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A1A6BE-97C0-4F4B-A042-A3DB42341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090936-AEAB-498B-AF6E-FCD9674D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C2EBB4-FE5C-42AF-9C02-0C318399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D1F3C6-B322-461F-878C-5B2B7B1D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42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87DC-A20F-4EF9-8770-0768BBA6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467200-1ED7-41F6-BF6F-812B5999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3223FE-2481-43E2-A15B-89E8AD53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EC4084-F473-4402-98BD-BB892CB3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47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3F022F-C101-42A0-830E-2B18C0C7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EE52D0-1CE4-4C0C-8455-5EB8066F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19FE3D-8577-41FC-8BFC-631E67CA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68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D3593-CFB9-49FE-B8C1-EC5EFFF5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6A12C-688A-45F8-888C-8221D5550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1CCDDE-611A-4735-8F44-A00F8C5EA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71D92-580D-495E-A720-E351C24B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3C3A84-3DB3-4B10-B825-C63B6BE1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7CBB60-D5D1-41AF-99E4-F814F85B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700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8ACB0-63C0-4408-AED3-F4D42A7F3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21EA5C-F5FC-4CB0-B7BE-2BAD1D7A8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B41781-05EA-4FF5-B29B-DF2EF1214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470B48-B530-40EE-B199-AB59E0CC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27006-7B87-4630-884C-7CA2D6C1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0C9D87-14FF-4BE0-B953-6398C862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49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D3B3F-8EEB-472F-ADF7-6D3C8607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BD5A3-0F35-4C09-8FE4-F2ADA942D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BDD27-2E5E-415E-8F22-1ED5296D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56F99-5BC1-4034-B33F-46085011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DED86-380E-474D-BBA2-2FD34A11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76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9F123E-16EC-42DD-98CE-1ED00C1C7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6B519C-CA50-41C9-96A9-44B399224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E58782-CB58-45DC-BEC8-BE1E90E2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EA1E93-2708-4911-9167-99DF6F00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7A882-AA57-401B-8463-C1F4202C4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621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20EA80-BDA9-4129-B923-5B05C59A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28E42D-92B0-43E3-8B6B-C216FF8C3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0894F3-205C-4B6D-8F1B-F4F85D3BE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05684-7163-41FE-A7DD-CB314B67FB17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53D8A3-559A-4086-A0E1-C38A68F09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E5D48B-BDB1-4220-BED0-C9ACFCD97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3C4BE-C3E3-47B2-85FA-7D449952E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09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4083F-ABAB-4EAA-84E7-088F4EF542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36A436-D7BF-4902-BAE1-4D64984C2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526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60D1D-A976-4EDF-8289-6654EDB7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FC960-A7D8-4C8D-92E9-BF04268EE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Q </a:t>
            </a:r>
            <a:r>
              <a:rPr lang="ko-KR" altLang="en-US" dirty="0"/>
              <a:t>질환이 없는 </a:t>
            </a:r>
            <a:r>
              <a:rPr lang="en-US" altLang="ko-KR" dirty="0"/>
              <a:t>(</a:t>
            </a:r>
            <a:r>
              <a:rPr lang="ko-KR" altLang="en-US" dirty="0"/>
              <a:t>신장 이식 공여자</a:t>
            </a:r>
            <a:r>
              <a:rPr lang="en-US" altLang="ko-KR" dirty="0"/>
              <a:t>, </a:t>
            </a:r>
            <a:r>
              <a:rPr lang="ko-KR" altLang="en-US" dirty="0"/>
              <a:t>혹은 양성 담낭 종양으로 담낭 </a:t>
            </a:r>
            <a:r>
              <a:rPr lang="ko-KR" altLang="en-US" dirty="0" err="1"/>
              <a:t>제거술</a:t>
            </a:r>
            <a:r>
              <a:rPr lang="ko-KR" altLang="en-US" dirty="0"/>
              <a:t> 시행</a:t>
            </a:r>
            <a:r>
              <a:rPr lang="en-US" altLang="ko-KR" dirty="0"/>
              <a:t>, </a:t>
            </a:r>
            <a:r>
              <a:rPr lang="ko-KR" altLang="en-US" dirty="0"/>
              <a:t>악성 아님</a:t>
            </a:r>
            <a:r>
              <a:rPr lang="en-US" altLang="ko-KR" dirty="0"/>
              <a:t>) </a:t>
            </a:r>
            <a:r>
              <a:rPr lang="ko-KR" altLang="en-US" dirty="0"/>
              <a:t>사람의 내장 지방 조직의 염증 반응이 나이에 따라 어떻게 달라지는지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 err="1"/>
              <a:t>나이랑</a:t>
            </a:r>
            <a:r>
              <a:rPr lang="ko-KR" altLang="en-US" dirty="0"/>
              <a:t> 가장 </a:t>
            </a:r>
            <a:r>
              <a:rPr lang="en-US" altLang="ko-KR" dirty="0"/>
              <a:t>correlation</a:t>
            </a:r>
            <a:r>
              <a:rPr lang="ko-KR" altLang="en-US" dirty="0"/>
              <a:t>이 높을 면역 분석 데이터</a:t>
            </a:r>
            <a:r>
              <a:rPr lang="en-US" altLang="ko-KR" dirty="0"/>
              <a:t> feature</a:t>
            </a:r>
            <a:r>
              <a:rPr lang="ko-KR" altLang="en-US" dirty="0"/>
              <a:t>는 </a:t>
            </a:r>
            <a:r>
              <a:rPr lang="ko-KR" altLang="en-US" dirty="0" err="1"/>
              <a:t>어느것인지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BMI</a:t>
            </a:r>
            <a:r>
              <a:rPr lang="ko-KR" altLang="en-US" dirty="0"/>
              <a:t>로 </a:t>
            </a:r>
            <a:r>
              <a:rPr lang="en-US" altLang="ko-KR" dirty="0"/>
              <a:t>correlation</a:t>
            </a:r>
            <a:r>
              <a:rPr lang="ko-KR" altLang="en-US" dirty="0"/>
              <a:t>을 보는 데 </a:t>
            </a:r>
            <a:r>
              <a:rPr lang="en-US" altLang="ko-KR" dirty="0"/>
              <a:t>age correction?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69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E3477-89C6-4EB4-80BC-F8D98753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A2B64-D4F1-48C6-9236-840D6901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 </a:t>
            </a:r>
            <a:r>
              <a:rPr lang="ko-KR" altLang="en-US" dirty="0"/>
              <a:t>질환이 없는 </a:t>
            </a:r>
            <a:r>
              <a:rPr lang="en-US" altLang="ko-KR" dirty="0"/>
              <a:t>(</a:t>
            </a:r>
            <a:r>
              <a:rPr lang="ko-KR" altLang="en-US" dirty="0"/>
              <a:t>신장 이식 공여자</a:t>
            </a:r>
            <a:r>
              <a:rPr lang="en-US" altLang="ko-KR" dirty="0"/>
              <a:t>, </a:t>
            </a:r>
            <a:r>
              <a:rPr lang="ko-KR" altLang="en-US" dirty="0"/>
              <a:t>혹은 양성 담낭 종양으로 담낭 </a:t>
            </a:r>
            <a:r>
              <a:rPr lang="ko-KR" altLang="en-US" dirty="0" err="1"/>
              <a:t>제거술</a:t>
            </a:r>
            <a:r>
              <a:rPr lang="ko-KR" altLang="en-US" dirty="0"/>
              <a:t> 시행</a:t>
            </a:r>
            <a:r>
              <a:rPr lang="en-US" altLang="ko-KR" dirty="0"/>
              <a:t>, </a:t>
            </a:r>
            <a:r>
              <a:rPr lang="ko-KR" altLang="en-US" dirty="0"/>
              <a:t>악성 아님</a:t>
            </a:r>
            <a:r>
              <a:rPr lang="en-US" altLang="ko-KR" dirty="0"/>
              <a:t>) </a:t>
            </a:r>
            <a:r>
              <a:rPr lang="ko-KR" altLang="en-US" dirty="0"/>
              <a:t>사람의 내장 지방 조직의 염증 반응이 환자의 대사</a:t>
            </a:r>
            <a:r>
              <a:rPr lang="en-US" altLang="ko-KR" dirty="0"/>
              <a:t>, </a:t>
            </a:r>
            <a:r>
              <a:rPr lang="ko-KR" altLang="en-US" dirty="0"/>
              <a:t>간</a:t>
            </a:r>
            <a:r>
              <a:rPr lang="en-US" altLang="ko-KR" dirty="0"/>
              <a:t>, </a:t>
            </a:r>
            <a:r>
              <a:rPr lang="ko-KR" altLang="en-US" dirty="0"/>
              <a:t>신장 기능 평가와 어떤 관계를 보일지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환자의 신장</a:t>
            </a:r>
            <a:r>
              <a:rPr lang="en-US" altLang="ko-KR" dirty="0"/>
              <a:t>/</a:t>
            </a:r>
            <a:r>
              <a:rPr lang="ko-KR" altLang="en-US" dirty="0"/>
              <a:t>대사</a:t>
            </a:r>
            <a:r>
              <a:rPr lang="en-US" altLang="ko-KR" dirty="0"/>
              <a:t>/</a:t>
            </a:r>
            <a:r>
              <a:rPr lang="ko-KR" altLang="en-US" dirty="0"/>
              <a:t>간 기능과 관련된 혈액 </a:t>
            </a:r>
            <a:r>
              <a:rPr lang="ko-KR" altLang="en-US" dirty="0" err="1"/>
              <a:t>바이오마커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ko-KR" altLang="en-US" dirty="0" err="1"/>
              <a:t>마커군</a:t>
            </a:r>
            <a:r>
              <a:rPr lang="en-US" altLang="ko-KR" dirty="0"/>
              <a:t>)</a:t>
            </a:r>
            <a:r>
              <a:rPr lang="ko-KR" altLang="en-US" dirty="0"/>
              <a:t>가 신장 지방에서 확보한 면역 </a:t>
            </a:r>
            <a:r>
              <a:rPr lang="en-US" altLang="ko-KR" dirty="0"/>
              <a:t>feature</a:t>
            </a:r>
            <a:r>
              <a:rPr lang="ko-KR" altLang="en-US" dirty="0"/>
              <a:t>와는 관계가 있고 간 지방에서 확보한 면역 </a:t>
            </a:r>
            <a:r>
              <a:rPr lang="en-US" altLang="ko-KR" dirty="0"/>
              <a:t>feature</a:t>
            </a:r>
            <a:r>
              <a:rPr lang="ko-KR" altLang="en-US" dirty="0"/>
              <a:t>와는 관계가 없는 지</a:t>
            </a:r>
            <a:r>
              <a:rPr lang="en-US" altLang="ko-KR" dirty="0"/>
              <a:t>? </a:t>
            </a:r>
            <a:r>
              <a:rPr lang="ko-KR" altLang="en-US" dirty="0"/>
              <a:t>그런 </a:t>
            </a:r>
            <a:r>
              <a:rPr lang="en-US" altLang="ko-KR" dirty="0"/>
              <a:t>feature </a:t>
            </a:r>
            <a:r>
              <a:rPr lang="ko-KR" altLang="en-US" dirty="0"/>
              <a:t>는 무엇인지 </a:t>
            </a:r>
            <a:r>
              <a:rPr lang="en-US" altLang="ko-KR" dirty="0"/>
              <a:t>selection?</a:t>
            </a:r>
            <a:r>
              <a:rPr lang="ko-KR" altLang="en-US" dirty="0"/>
              <a:t> </a:t>
            </a: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750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792A6-CD52-4A12-881E-D596EA12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5D189D-40D9-4E82-91C7-130426CC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KUMC</a:t>
            </a:r>
          </a:p>
          <a:p>
            <a:pPr lvl="1"/>
            <a:r>
              <a:rPr lang="ko-KR" altLang="en-US" dirty="0"/>
              <a:t>간</a:t>
            </a:r>
            <a:r>
              <a:rPr lang="en-US" altLang="ko-KR" dirty="0"/>
              <a:t>(</a:t>
            </a:r>
            <a:r>
              <a:rPr lang="ko-KR" altLang="en-US" dirty="0"/>
              <a:t>정확히는 담낭</a:t>
            </a:r>
            <a:r>
              <a:rPr lang="en-US" altLang="ko-KR" dirty="0"/>
              <a:t>)</a:t>
            </a:r>
            <a:r>
              <a:rPr lang="ko-KR" altLang="en-US" dirty="0"/>
              <a:t>주변의 지방 조직에서 면역 세포 비율</a:t>
            </a:r>
            <a:r>
              <a:rPr lang="en-US" altLang="ko-KR" dirty="0"/>
              <a:t>/</a:t>
            </a:r>
            <a:r>
              <a:rPr lang="ko-KR" altLang="en-US" dirty="0"/>
              <a:t>숫자 등을 분석한 코호트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AMC (</a:t>
            </a:r>
            <a:r>
              <a:rPr lang="ko-KR" altLang="en-US" dirty="0"/>
              <a:t>혹은 숫자만 있는 코호트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신장</a:t>
            </a:r>
            <a:r>
              <a:rPr lang="en-US" altLang="ko-KR" dirty="0"/>
              <a:t>(</a:t>
            </a:r>
            <a:r>
              <a:rPr lang="ko-KR" altLang="en-US" dirty="0"/>
              <a:t>콩팥</a:t>
            </a:r>
            <a:r>
              <a:rPr lang="en-US" altLang="ko-KR" dirty="0"/>
              <a:t>) </a:t>
            </a:r>
            <a:r>
              <a:rPr lang="ko-KR" altLang="en-US" dirty="0"/>
              <a:t>주변 지방 조직에서 면역세포 비율</a:t>
            </a:r>
            <a:r>
              <a:rPr lang="en-US" altLang="ko-KR" dirty="0"/>
              <a:t>/</a:t>
            </a:r>
            <a:r>
              <a:rPr lang="ko-KR" altLang="en-US" dirty="0"/>
              <a:t>숫자 등을 분석</a:t>
            </a:r>
          </a:p>
        </p:txBody>
      </p:sp>
    </p:spTree>
    <p:extLst>
      <p:ext uri="{BB962C8B-B14F-4D97-AF65-F5344CB8AC3E}">
        <p14:creationId xmlns:p14="http://schemas.microsoft.com/office/powerpoint/2010/main" val="297358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F50C06-9C3F-4B8C-9BE4-9360D5DC2332}"/>
              </a:ext>
            </a:extLst>
          </p:cNvPr>
          <p:cNvSpPr txBox="1"/>
          <p:nvPr/>
        </p:nvSpPr>
        <p:spPr>
          <a:xfrm>
            <a:off x="5105400" y="1100667"/>
            <a:ext cx="221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</a:t>
            </a:r>
            <a:r>
              <a:rPr lang="ko-KR" altLang="en-US" dirty="0"/>
              <a:t> </a:t>
            </a:r>
            <a:r>
              <a:rPr lang="en-US" altLang="ko-KR" dirty="0"/>
              <a:t>IMMUNE</a:t>
            </a:r>
            <a:r>
              <a:rPr lang="ko-KR" altLang="en-US" dirty="0"/>
              <a:t> </a:t>
            </a:r>
            <a:r>
              <a:rPr lang="en-US" altLang="ko-KR" dirty="0"/>
              <a:t>CELL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265E0-36E3-44D3-9CF5-3CF31CEAEB1F}"/>
              </a:ext>
            </a:extLst>
          </p:cNvPr>
          <p:cNvSpPr txBox="1"/>
          <p:nvPr/>
        </p:nvSpPr>
        <p:spPr>
          <a:xfrm>
            <a:off x="2855938" y="1854201"/>
            <a:ext cx="671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	 CD11b	         HLADR      NK         NKT1           T 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5478F1-B9ED-49FF-A2DE-CE2BA7C6FC07}"/>
              </a:ext>
            </a:extLst>
          </p:cNvPr>
          <p:cNvSpPr/>
          <p:nvPr/>
        </p:nvSpPr>
        <p:spPr>
          <a:xfrm>
            <a:off x="6717488" y="3312582"/>
            <a:ext cx="54745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NKT2</a:t>
            </a:r>
            <a:r>
              <a:rPr lang="fr-FR" dirty="0"/>
              <a:t>   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MAIT        </a:t>
            </a:r>
            <a:r>
              <a:rPr lang="fr-FR" dirty="0"/>
              <a:t>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gd1T</a:t>
            </a:r>
            <a:r>
              <a:rPr lang="fr-FR" dirty="0"/>
              <a:t>      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gd2T</a:t>
            </a:r>
            <a:r>
              <a:rPr lang="fr-FR" dirty="0"/>
              <a:t>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ConvT%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199E18-FC56-40F0-994F-65D71DB19690}"/>
              </a:ext>
            </a:extLst>
          </p:cNvPr>
          <p:cNvSpPr/>
          <p:nvPr/>
        </p:nvSpPr>
        <p:spPr>
          <a:xfrm>
            <a:off x="9884833" y="4675716"/>
            <a:ext cx="4649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CD8+T</a:t>
            </a:r>
            <a:r>
              <a:rPr lang="de-DE" dirty="0"/>
              <a:t>    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CD4+T      </a:t>
            </a:r>
            <a:r>
              <a:rPr lang="de-DE" dirty="0"/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CD8+Treg         </a:t>
            </a:r>
            <a:r>
              <a:rPr lang="de-DE" dirty="0"/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CD4+Treg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E70CBF-35AD-43EF-B388-DE92547DAF76}"/>
              </a:ext>
            </a:extLst>
          </p:cNvPr>
          <p:cNvSpPr/>
          <p:nvPr/>
        </p:nvSpPr>
        <p:spPr>
          <a:xfrm>
            <a:off x="9454744" y="5307223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929CE8-33CC-4D11-8AA6-0A324B0A0F9E}"/>
              </a:ext>
            </a:extLst>
          </p:cNvPr>
          <p:cNvSpPr/>
          <p:nvPr/>
        </p:nvSpPr>
        <p:spPr>
          <a:xfrm>
            <a:off x="10591720" y="5324938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EA341B-16A6-4FBA-9E76-B1842E06F20A}"/>
              </a:ext>
            </a:extLst>
          </p:cNvPr>
          <p:cNvSpPr/>
          <p:nvPr/>
        </p:nvSpPr>
        <p:spPr>
          <a:xfrm>
            <a:off x="7287201" y="3940570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4B09B7-091B-4BE6-9508-7DDC97AA7218}"/>
              </a:ext>
            </a:extLst>
          </p:cNvPr>
          <p:cNvSpPr/>
          <p:nvPr/>
        </p:nvSpPr>
        <p:spPr>
          <a:xfrm>
            <a:off x="8586017" y="3938811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D2070D-50D6-45DE-B8F7-D6581663B4BB}"/>
              </a:ext>
            </a:extLst>
          </p:cNvPr>
          <p:cNvSpPr/>
          <p:nvPr/>
        </p:nvSpPr>
        <p:spPr>
          <a:xfrm>
            <a:off x="9884833" y="3938811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E8C3A0A-65DC-492A-AF36-D1C9BAB678CE}"/>
              </a:ext>
            </a:extLst>
          </p:cNvPr>
          <p:cNvCxnSpPr>
            <a:stCxn id="4" idx="2"/>
          </p:cNvCxnSpPr>
          <p:nvPr/>
        </p:nvCxnSpPr>
        <p:spPr>
          <a:xfrm flipH="1">
            <a:off x="3355675" y="1469999"/>
            <a:ext cx="2858330" cy="298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4201630-B643-4C6D-9674-2B8DA53D8C2D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218317" y="1469999"/>
            <a:ext cx="1995688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F41E60F-7946-4797-8563-AE8BD802186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969479" y="1469999"/>
            <a:ext cx="244526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65D40AA-A4CD-4F49-827D-348514943CD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14005" y="1469999"/>
            <a:ext cx="583610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DDB6FB4-5E9A-431C-8A9B-A1382B2A937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14005" y="1469999"/>
            <a:ext cx="1834819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AD6107-51EF-4532-A5DC-03BF902D84B5}"/>
              </a:ext>
            </a:extLst>
          </p:cNvPr>
          <p:cNvCxnSpPr>
            <a:cxnSpLocks/>
          </p:cNvCxnSpPr>
          <p:nvPr/>
        </p:nvCxnSpPr>
        <p:spPr>
          <a:xfrm>
            <a:off x="6183678" y="1469999"/>
            <a:ext cx="3020707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5BAB78A-8500-4226-A4FE-12550D4376BD}"/>
              </a:ext>
            </a:extLst>
          </p:cNvPr>
          <p:cNvCxnSpPr>
            <a:cxnSpLocks/>
          </p:cNvCxnSpPr>
          <p:nvPr/>
        </p:nvCxnSpPr>
        <p:spPr>
          <a:xfrm>
            <a:off x="9346232" y="2267723"/>
            <a:ext cx="2271977" cy="949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9BAA199-674B-410B-9AF9-A8DBFA7593DD}"/>
              </a:ext>
            </a:extLst>
          </p:cNvPr>
          <p:cNvCxnSpPr>
            <a:cxnSpLocks/>
          </p:cNvCxnSpPr>
          <p:nvPr/>
        </p:nvCxnSpPr>
        <p:spPr>
          <a:xfrm>
            <a:off x="9346232" y="2258376"/>
            <a:ext cx="1135988" cy="1052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2F158B7-F9CF-49DF-B470-3FFFEE1487A1}"/>
              </a:ext>
            </a:extLst>
          </p:cNvPr>
          <p:cNvCxnSpPr>
            <a:cxnSpLocks/>
          </p:cNvCxnSpPr>
          <p:nvPr/>
        </p:nvCxnSpPr>
        <p:spPr>
          <a:xfrm flipH="1">
            <a:off x="9204385" y="2265964"/>
            <a:ext cx="141847" cy="104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36BEA0F-C8B2-4358-B634-600A14CF8E80}"/>
              </a:ext>
            </a:extLst>
          </p:cNvPr>
          <p:cNvCxnSpPr>
            <a:cxnSpLocks/>
          </p:cNvCxnSpPr>
          <p:nvPr/>
        </p:nvCxnSpPr>
        <p:spPr>
          <a:xfrm flipH="1">
            <a:off x="8210243" y="2290613"/>
            <a:ext cx="1135989" cy="1055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8534587-2232-4294-8C25-A7F9A5189C9F}"/>
              </a:ext>
            </a:extLst>
          </p:cNvPr>
          <p:cNvCxnSpPr>
            <a:cxnSpLocks/>
          </p:cNvCxnSpPr>
          <p:nvPr/>
        </p:nvCxnSpPr>
        <p:spPr>
          <a:xfrm flipH="1">
            <a:off x="6972072" y="2309319"/>
            <a:ext cx="2374160" cy="1043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7E1709-38CC-4019-A702-BAB52D8F09BE}"/>
              </a:ext>
            </a:extLst>
          </p:cNvPr>
          <p:cNvCxnSpPr>
            <a:cxnSpLocks/>
          </p:cNvCxnSpPr>
          <p:nvPr/>
        </p:nvCxnSpPr>
        <p:spPr>
          <a:xfrm flipH="1">
            <a:off x="7539487" y="3602564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8F41842-1764-4B4C-BE4B-3E569E31DFB4}"/>
              </a:ext>
            </a:extLst>
          </p:cNvPr>
          <p:cNvCxnSpPr>
            <a:cxnSpLocks/>
          </p:cNvCxnSpPr>
          <p:nvPr/>
        </p:nvCxnSpPr>
        <p:spPr>
          <a:xfrm>
            <a:off x="8159152" y="3594976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72134A4-E25A-4B1F-8018-1C2649DFB9BA}"/>
              </a:ext>
            </a:extLst>
          </p:cNvPr>
          <p:cNvCxnSpPr>
            <a:cxnSpLocks/>
          </p:cNvCxnSpPr>
          <p:nvPr/>
        </p:nvCxnSpPr>
        <p:spPr>
          <a:xfrm flipH="1">
            <a:off x="8692699" y="3617739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15B084D-C4CC-4E86-B816-EA22F973675B}"/>
              </a:ext>
            </a:extLst>
          </p:cNvPr>
          <p:cNvCxnSpPr>
            <a:cxnSpLocks/>
          </p:cNvCxnSpPr>
          <p:nvPr/>
        </p:nvCxnSpPr>
        <p:spPr>
          <a:xfrm>
            <a:off x="9312364" y="3610151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AD92241-D961-4F87-8C15-4DF21E99B279}"/>
              </a:ext>
            </a:extLst>
          </p:cNvPr>
          <p:cNvCxnSpPr>
            <a:cxnSpLocks/>
          </p:cNvCxnSpPr>
          <p:nvPr/>
        </p:nvCxnSpPr>
        <p:spPr>
          <a:xfrm flipH="1">
            <a:off x="9972055" y="3622367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3490EB7-C538-4B59-BC03-E6328EBDEED5}"/>
              </a:ext>
            </a:extLst>
          </p:cNvPr>
          <p:cNvCxnSpPr>
            <a:cxnSpLocks/>
          </p:cNvCxnSpPr>
          <p:nvPr/>
        </p:nvCxnSpPr>
        <p:spPr>
          <a:xfrm>
            <a:off x="10591720" y="3614779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A0583B0-48C2-4085-BE2A-93D8390CCA29}"/>
              </a:ext>
            </a:extLst>
          </p:cNvPr>
          <p:cNvCxnSpPr>
            <a:cxnSpLocks/>
          </p:cNvCxnSpPr>
          <p:nvPr/>
        </p:nvCxnSpPr>
        <p:spPr>
          <a:xfrm flipH="1">
            <a:off x="9710387" y="4979883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1118E65-63C3-4420-B901-C77EBA6C4F8A}"/>
              </a:ext>
            </a:extLst>
          </p:cNvPr>
          <p:cNvCxnSpPr>
            <a:cxnSpLocks/>
          </p:cNvCxnSpPr>
          <p:nvPr/>
        </p:nvCxnSpPr>
        <p:spPr>
          <a:xfrm>
            <a:off x="10330052" y="4972295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FB4922F-64D3-4F53-ACB6-BFC155D77976}"/>
              </a:ext>
            </a:extLst>
          </p:cNvPr>
          <p:cNvCxnSpPr>
            <a:cxnSpLocks/>
          </p:cNvCxnSpPr>
          <p:nvPr/>
        </p:nvCxnSpPr>
        <p:spPr>
          <a:xfrm flipH="1">
            <a:off x="10737324" y="4987471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220DD2C-08AA-4CF6-AD16-1618D694271D}"/>
              </a:ext>
            </a:extLst>
          </p:cNvPr>
          <p:cNvCxnSpPr>
            <a:cxnSpLocks/>
          </p:cNvCxnSpPr>
          <p:nvPr/>
        </p:nvCxnSpPr>
        <p:spPr>
          <a:xfrm>
            <a:off x="11356989" y="4979883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F472ECF-3827-45A9-A0B0-7251135DE160}"/>
              </a:ext>
            </a:extLst>
          </p:cNvPr>
          <p:cNvCxnSpPr>
            <a:cxnSpLocks/>
          </p:cNvCxnSpPr>
          <p:nvPr/>
        </p:nvCxnSpPr>
        <p:spPr>
          <a:xfrm flipH="1">
            <a:off x="10437840" y="3683134"/>
            <a:ext cx="1057462" cy="990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412E4A9-F5E4-4AC5-BBB7-7FE7FB9B26A7}"/>
              </a:ext>
            </a:extLst>
          </p:cNvPr>
          <p:cNvCxnSpPr>
            <a:cxnSpLocks/>
          </p:cNvCxnSpPr>
          <p:nvPr/>
        </p:nvCxnSpPr>
        <p:spPr>
          <a:xfrm flipH="1">
            <a:off x="11303898" y="3699629"/>
            <a:ext cx="191404" cy="981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2708354-3FC8-4610-AAB6-503571A1613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1508870" y="3697105"/>
            <a:ext cx="700799" cy="978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BA86FC3-6DB0-4152-A110-B11E004107F8}"/>
              </a:ext>
            </a:extLst>
          </p:cNvPr>
          <p:cNvCxnSpPr>
            <a:cxnSpLocks/>
          </p:cNvCxnSpPr>
          <p:nvPr/>
        </p:nvCxnSpPr>
        <p:spPr>
          <a:xfrm>
            <a:off x="11528329" y="3689509"/>
            <a:ext cx="2334320" cy="983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EEF4A77-B3A9-4857-8514-5DECB45D5255}"/>
              </a:ext>
            </a:extLst>
          </p:cNvPr>
          <p:cNvSpPr/>
          <p:nvPr/>
        </p:nvSpPr>
        <p:spPr>
          <a:xfrm>
            <a:off x="-260473" y="3310709"/>
            <a:ext cx="6833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TransitionalB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MemoryB</a:t>
            </a:r>
            <a:r>
              <a:rPr lang="en-US" dirty="0"/>
              <a:t>  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EarlyPlasma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B </a:t>
            </a:r>
            <a:r>
              <a:rPr lang="en-US" dirty="0"/>
              <a:t>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PlasmaB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ABC</a:t>
            </a:r>
            <a:r>
              <a:rPr lang="en-US" dirty="0"/>
              <a:t> 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20F6B8E-D2AB-4B4D-9B31-248CB9257E16}"/>
              </a:ext>
            </a:extLst>
          </p:cNvPr>
          <p:cNvCxnSpPr>
            <a:cxnSpLocks/>
          </p:cNvCxnSpPr>
          <p:nvPr/>
        </p:nvCxnSpPr>
        <p:spPr>
          <a:xfrm>
            <a:off x="3015945" y="2174235"/>
            <a:ext cx="2692847" cy="1136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66FA837-615E-468A-9CA2-651CED53D7E1}"/>
              </a:ext>
            </a:extLst>
          </p:cNvPr>
          <p:cNvCxnSpPr>
            <a:cxnSpLocks/>
          </p:cNvCxnSpPr>
          <p:nvPr/>
        </p:nvCxnSpPr>
        <p:spPr>
          <a:xfrm>
            <a:off x="3015945" y="2164888"/>
            <a:ext cx="1838083" cy="1128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1A774AC-1357-428B-B45D-0D2CC96447D2}"/>
              </a:ext>
            </a:extLst>
          </p:cNvPr>
          <p:cNvCxnSpPr>
            <a:cxnSpLocks/>
          </p:cNvCxnSpPr>
          <p:nvPr/>
        </p:nvCxnSpPr>
        <p:spPr>
          <a:xfrm flipH="1">
            <a:off x="2084348" y="2197125"/>
            <a:ext cx="931598" cy="1104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54AE364-38AA-43DE-8351-6B2FB2966932}"/>
              </a:ext>
            </a:extLst>
          </p:cNvPr>
          <p:cNvCxnSpPr>
            <a:cxnSpLocks/>
          </p:cNvCxnSpPr>
          <p:nvPr/>
        </p:nvCxnSpPr>
        <p:spPr>
          <a:xfrm flipH="1">
            <a:off x="1038225" y="2215831"/>
            <a:ext cx="1977720" cy="1077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477615B-A5C6-4F0C-8A72-F457A418D6D6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3045491" y="2223533"/>
            <a:ext cx="110709" cy="1087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97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211</Words>
  <Application>Microsoft Office PowerPoint</Application>
  <PresentationFormat>와이드스크린</PresentationFormat>
  <Paragraphs>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 Han</dc:creator>
  <cp:lastModifiedBy>Taeho Han</cp:lastModifiedBy>
  <cp:revision>4</cp:revision>
  <dcterms:created xsi:type="dcterms:W3CDTF">2026-01-07T01:40:05Z</dcterms:created>
  <dcterms:modified xsi:type="dcterms:W3CDTF">2026-01-07T02:21:42Z</dcterms:modified>
</cp:coreProperties>
</file>